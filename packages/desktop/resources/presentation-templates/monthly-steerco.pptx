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ab6e9af0411473c" /><Relationship Type="http://schemas.openxmlformats.org/package/2006/relationships/metadata/core-properties" Target="/docProps/core.xml" Id="R7e857e34b4f24c8a" /><Relationship Type="http://schemas.openxmlformats.org/officeDocument/2006/relationships/extended-properties" Target="/docProps/app.xml" Id="R967de11534994fbf" /><Relationship Type="http://schemas.openxmlformats.org/officeDocument/2006/relationships/custom-properties" Target="/docProps/custom.xml" Id="R0e1bc7e9d50f47d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55817c18c6e4aa6"/>
    <p:sldId id="257" r:id="R601536569e6a4944"/>
    <p:sldId id="258" r:id="R6942d84cb7ef449b"/>
    <p:sldId id="259" r:id="Rc68da2aec780428f"/>
    <p:sldId id="260" r:id="R4bed21e8e26542f3"/>
    <p:sldId id="261" r:id="R80fce563d5864557"/>
    <p:sldId id="262" r:id="R5f8793e38f7a42b0"/>
    <p:sldId id="263" r:id="Ra7ce3421bb13402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55817c18c6e4aa6" /><Relationship Type="http://schemas.openxmlformats.org/officeDocument/2006/relationships/slide" Target="/ppt/slides/slide2.xml" Id="R601536569e6a4944" /><Relationship Type="http://schemas.openxmlformats.org/officeDocument/2006/relationships/slide" Target="/ppt/slides/slide3.xml" Id="R6942d84cb7ef449b" /><Relationship Type="http://schemas.openxmlformats.org/officeDocument/2006/relationships/slide" Target="/ppt/slides/slide4.xml" Id="Rc68da2aec780428f" /><Relationship Type="http://schemas.openxmlformats.org/officeDocument/2006/relationships/slide" Target="/ppt/slides/slide5.xml" Id="R4bed21e8e26542f3" /><Relationship Type="http://schemas.openxmlformats.org/officeDocument/2006/relationships/slide" Target="/ppt/slides/slide6.xml" Id="R80fce563d5864557" /><Relationship Type="http://schemas.openxmlformats.org/officeDocument/2006/relationships/slide" Target="/ppt/slides/slide7.xml" Id="R5f8793e38f7a42b0" /><Relationship Type="http://schemas.openxmlformats.org/officeDocument/2006/relationships/slide" Target="/ppt/slides/slide8.xml" Id="Ra7ce3421bb1340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Cover. Replace the month, year and company line; keep the peach corner circles and the gold bar — they are the deck signature.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Agenda. Three sections maximum; each number matches a divider slide later in the deck.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Section divider. Whitespace is intentional — the giant numeral matches the agenda order.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Status board. Left rail is one box per program with a chip; keep status lines to one sentence and flag the at-risk item verbally.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Timeline. Month pills stay fixed; move the phase bars and the WE ARE HERE marker to match the reporting month.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cards. One decision per card: the gap states the problem, the proposal is the single ask.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Next steps. The banner carries the maturity caveat; each row names one action with a single owner and date.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Closing. Restate the asks as plain sentences; pause here for the committee decision before ending.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ad658ace44d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f5a0977714c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37bc4e3a347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1af7dc71e4a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4edded13b4a0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c207d47d6f144e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b8071e3a84319" /><Relationship Type="http://schemas.openxmlformats.org/officeDocument/2006/relationships/notesSlide" Target="/ppt/notesSlides/notesSlide1.xml" Id="Red3dc572ce71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e9df4da3248c1" /><Relationship Type="http://schemas.openxmlformats.org/officeDocument/2006/relationships/notesSlide" Target="/ppt/notesSlides/notesSlide2.xml" Id="R9fc02b67e4da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a99380ff744e8" /><Relationship Type="http://schemas.openxmlformats.org/officeDocument/2006/relationships/notesSlide" Target="/ppt/notesSlides/notesSlide3.xml" Id="R228996a3876f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45cfb793e4564" /><Relationship Type="http://schemas.openxmlformats.org/officeDocument/2006/relationships/notesSlide" Target="/ppt/notesSlides/notesSlide4.xml" Id="Ra488f907d1ac40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34aa262042d4" /><Relationship Type="http://schemas.openxmlformats.org/officeDocument/2006/relationships/notesSlide" Target="/ppt/notesSlides/notesSlide5.xml" Id="Rf660b799cd0d4f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437b32011439c" /><Relationship Type="http://schemas.openxmlformats.org/officeDocument/2006/relationships/notesSlide" Target="/ppt/notesSlides/notesSlide6.xml" Id="R2e52b85555e749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b9fd560249f2" /><Relationship Type="http://schemas.openxmlformats.org/officeDocument/2006/relationships/notesSlide" Target="/ppt/notesSlides/notesSlide7.xml" Id="R4a615516a400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0943c07934a7c" /><Relationship Type="http://schemas.openxmlformats.org/officeDocument/2006/relationships/notesSlide" Target="/ppt/notesSlides/notesSlide8.xml" Id="R922c189dd4214b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PeachCircleLarge"/>
          <p:cNvSpPr/>
          <p:nvPr/>
        </p:nvSpPr>
        <p:spPr>
          <a:xfrm xmlns:a="http://schemas.openxmlformats.org/drawingml/2006/main">
            <a:off x="9324000" y="-2232000"/>
            <a:ext cx="5040000" cy="50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PeachCircleSmall"/>
          <p:cNvSpPr/>
          <p:nvPr/>
        </p:nvSpPr>
        <p:spPr>
          <a:xfrm xmlns:a="http://schemas.openxmlformats.org/drawingml/2006/main">
            <a:off x="8388000" y="-936000"/>
            <a:ext cx="2880000" cy="28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10260000" y="288000"/>
            <a:ext cx="139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5B6B82"/>
                </a:solidFill>
                <a:latin typeface="Consolas"/>
                <a:ea typeface="Consolas"/>
              </a:rPr>
              <a:t>[COMPANY LOGO]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900000" y="2016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1592A"/>
                </a:solidFill>
                <a:latin typeface="Consolas"/>
                <a:ea typeface="Consolas"/>
              </a:rPr>
              <a:t>TRANSFORMATION OFFICE</a:t>
            </a:r>
          </a:p>
        </p:txBody>
      </p:sp>
      <p:sp>
        <p:nvSpPr>
          <p:cNvPr id="100004" name="Title"/>
          <p:cNvSpPr/>
          <p:nvPr/>
        </p:nvSpPr>
        <p:spPr>
          <a:xfrm xmlns:a="http://schemas.openxmlformats.org/drawingml/2006/main">
            <a:off x="900000" y="2376000"/>
            <a:ext cx="93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22B45"/>
                </a:solidFill>
                <a:latin typeface="Cambria"/>
                <a:ea typeface="Cambria"/>
              </a:rPr>
              <a:t>Monthly SteerCo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900000" y="3294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900000" y="3492000"/>
            <a:ext cx="86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June — [Month, Year]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900000" y="3996000"/>
            <a:ext cx="86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Meridian Group · Portfolio Update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8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Agenda</a:t>
            </a:r>
          </a:p>
        </p:txBody>
      </p:sp>
      <p:sp>
        <p:nvSpPr>
          <p:cNvPr id="100009" name="TextBox 2"/>
          <p:cNvSpPr/>
          <p:nvPr/>
        </p:nvSpPr>
        <p:spPr>
          <a:xfrm xmlns:a="http://schemas.openxmlformats.org/drawingml/2006/main">
            <a:off x="540000" y="109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3"/>
          <p:cNvSpPr/>
          <p:nvPr/>
        </p:nvSpPr>
        <p:spPr>
          <a:xfrm xmlns:a="http://schemas.openxmlformats.org/drawingml/2006/main">
            <a:off x="540000" y="1728000"/>
            <a:ext cx="97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22B45"/>
                </a:solidFill>
                <a:latin typeface="Cambria"/>
                <a:ea typeface="Cambria"/>
              </a:rPr>
              <a:t>01.</a:t>
            </a:r>
          </a:p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1656000" y="1782000"/>
            <a:ext cx="93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Aurora Program &amp; Platform Update</a:t>
            </a:r>
          </a:p>
        </p:txBody>
      </p:sp>
      <p:sp>
        <p:nvSpPr>
          <p:cNvPr id="100012" name="TextBox 5"/>
          <p:cNvSpPr/>
          <p:nvPr/>
        </p:nvSpPr>
        <p:spPr>
          <a:xfrm xmlns:a="http://schemas.openxmlformats.org/drawingml/2006/main">
            <a:off x="1656000" y="2232000"/>
            <a:ext cx="936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Where the rollout stands and what changed since last month.</a:t>
            </a:r>
          </a:p>
        </p:txBody>
      </p:sp>
      <p:sp>
        <p:nvSpPr>
          <p:cNvPr id="100013" name="TextBox 6"/>
          <p:cNvSpPr/>
          <p:nvPr/>
        </p:nvSpPr>
        <p:spPr>
          <a:xfrm xmlns:a="http://schemas.openxmlformats.org/drawingml/2006/main">
            <a:off x="540000" y="3204000"/>
            <a:ext cx="97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22B45"/>
                </a:solidFill>
                <a:latin typeface="Cambria"/>
                <a:ea typeface="Cambria"/>
              </a:rPr>
              <a:t>02.</a:t>
            </a:r>
          </a:p>
        </p:txBody>
      </p:sp>
      <p:sp>
        <p:nvSpPr>
          <p:cNvPr id="100014" name="TextBox 7"/>
          <p:cNvSpPr/>
          <p:nvPr/>
        </p:nvSpPr>
        <p:spPr>
          <a:xfrm xmlns:a="http://schemas.openxmlformats.org/drawingml/2006/main">
            <a:off x="1656000" y="3258000"/>
            <a:ext cx="93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Budget &amp; Vendor Decisions</a:t>
            </a:r>
          </a:p>
        </p:txBody>
      </p:sp>
      <p:sp>
        <p:nvSpPr>
          <p:cNvPr id="100015" name="TextBox 8"/>
          <p:cNvSpPr/>
          <p:nvPr/>
        </p:nvSpPr>
        <p:spPr>
          <a:xfrm xmlns:a="http://schemas.openxmlformats.org/drawingml/2006/main">
            <a:off x="1656000" y="3708000"/>
            <a:ext cx="936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Two approvals needed to keep the second-half plan on schedule.</a:t>
            </a:r>
          </a:p>
        </p:txBody>
      </p:sp>
      <p:sp>
        <p:nvSpPr>
          <p:cNvPr id="100016" name="TextBox 9"/>
          <p:cNvSpPr/>
          <p:nvPr/>
        </p:nvSpPr>
        <p:spPr>
          <a:xfrm xmlns:a="http://schemas.openxmlformats.org/drawingml/2006/main">
            <a:off x="540000" y="4680000"/>
            <a:ext cx="97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22B45"/>
                </a:solidFill>
                <a:latin typeface="Cambria"/>
                <a:ea typeface="Cambria"/>
              </a:rPr>
              <a:t>03.</a:t>
            </a:r>
          </a:p>
        </p:txBody>
      </p:sp>
      <p:sp>
        <p:nvSpPr>
          <p:cNvPr id="100017" name="TextBox 10"/>
          <p:cNvSpPr/>
          <p:nvPr/>
        </p:nvSpPr>
        <p:spPr>
          <a:xfrm xmlns:a="http://schemas.openxmlformats.org/drawingml/2006/main">
            <a:off x="1656000" y="4734000"/>
            <a:ext cx="93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Risks and Asks</a:t>
            </a:r>
          </a:p>
        </p:txBody>
      </p:sp>
      <p:sp>
        <p:nvSpPr>
          <p:cNvPr id="100018" name="TextBox 11"/>
          <p:cNvSpPr/>
          <p:nvPr/>
        </p:nvSpPr>
        <p:spPr>
          <a:xfrm xmlns:a="http://schemas.openxmlformats.org/drawingml/2006/main">
            <a:off x="1656000" y="5184000"/>
            <a:ext cx="936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B6B82"/>
                </a:solidFill>
                <a:latin typeface="Calibri"/>
                <a:ea typeface="Calibri"/>
              </a:rPr>
              <a:t>Open risks with owners, and what we need from this committee.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10260000" y="288000"/>
            <a:ext cx="139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5B6B82"/>
                </a:solidFill>
                <a:latin typeface="Consolas"/>
                <a:ea typeface="Consolas"/>
              </a:rPr>
              <a:t>[COMPANY LOGO]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900000" y="115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1592A"/>
                </a:solidFill>
                <a:latin typeface="Consolas"/>
                <a:ea typeface="Consolas"/>
              </a:rPr>
              <a:t>SECTION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828000" y="1476000"/>
            <a:ext cx="5400000" cy="27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7000" b="1">
                <a:solidFill>
                  <a:srgbClr val="122B45"/>
                </a:solidFill>
                <a:latin typeface="Cambria"/>
                <a:ea typeface="Cambria"/>
              </a:rPr>
              <a:t>01.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900000" y="442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Title"/>
          <p:cNvSpPr/>
          <p:nvPr/>
        </p:nvSpPr>
        <p:spPr>
          <a:xfrm xmlns:a="http://schemas.openxmlformats.org/drawingml/2006/main">
            <a:off x="900000" y="4644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22B45"/>
                </a:solidFill>
                <a:latin typeface="Cambria"/>
                <a:ea typeface="Cambria"/>
              </a:rPr>
              <a:t>Aurora Program &amp; Platform Update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Program status — [period]</a:t>
            </a:r>
          </a:p>
        </p:txBody>
      </p:sp>
      <p:sp>
        <p:nvSpPr>
          <p:cNvPr id="100025" name="TextBox 2"/>
          <p:cNvSpPr/>
          <p:nvPr/>
        </p:nvSpPr>
        <p:spPr>
          <a:xfrm xmlns:a="http://schemas.openxmlformats.org/drawingml/2006/main">
            <a:off x="540000" y="109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6" name="Program1"/>
          <p:cNvSpPr/>
          <p:nvPr/>
        </p:nvSpPr>
        <p:spPr>
          <a:xfrm xmlns:a="http://schemas.openxmlformats.org/drawingml/2006/main">
            <a:off x="540000" y="1584000"/>
            <a:ext cx="2340000" cy="12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B4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4"/>
          <p:cNvSpPr/>
          <p:nvPr/>
        </p:nvSpPr>
        <p:spPr>
          <a:xfrm xmlns:a="http://schemas.openxmlformats.org/drawingml/2006/main">
            <a:off x="756000" y="1764000"/>
            <a:ext cx="190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Aurora Rollout</a:t>
            </a:r>
          </a:p>
        </p:txBody>
      </p:sp>
      <p:sp>
        <p:nvSpPr>
          <p:cNvPr id="100028" name="TextBox 5"/>
          <p:cNvSpPr/>
          <p:nvPr/>
        </p:nvSpPr>
        <p:spPr>
          <a:xfrm xmlns:a="http://schemas.openxmlformats.org/drawingml/2006/main">
            <a:off x="756000" y="2304000"/>
            <a:ext cx="1080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On track</a:t>
            </a:r>
          </a:p>
        </p:txBody>
      </p:sp>
      <p:sp>
        <p:nvSpPr>
          <p:cNvPr id="100029" name="TextBox 6"/>
          <p:cNvSpPr/>
          <p:nvPr/>
        </p:nvSpPr>
        <p:spPr>
          <a:xfrm xmlns:a="http://schemas.openxmlformats.org/drawingml/2006/main">
            <a:off x="3168000" y="1764000"/>
            <a:ext cx="4968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933"/>
                </a:solidFill>
                <a:latin typeface="Calibri"/>
                <a:ea typeface="Calibri"/>
              </a:rPr>
              <a:t>Rollout live at 68% of sites; wave four starts next week with no open blockers.</a:t>
            </a:r>
          </a:p>
        </p:txBody>
      </p:sp>
      <p:sp>
        <p:nvSpPr>
          <p:cNvPr id="100030" name="Program2"/>
          <p:cNvSpPr/>
          <p:nvPr/>
        </p:nvSpPr>
        <p:spPr>
          <a:xfrm xmlns:a="http://schemas.openxmlformats.org/drawingml/2006/main">
            <a:off x="540000" y="3096000"/>
            <a:ext cx="2340000" cy="12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B4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8"/>
          <p:cNvSpPr/>
          <p:nvPr/>
        </p:nvSpPr>
        <p:spPr>
          <a:xfrm xmlns:a="http://schemas.openxmlformats.org/drawingml/2006/main">
            <a:off x="756000" y="3276000"/>
            <a:ext cx="190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Data Platform</a:t>
            </a:r>
          </a:p>
        </p:txBody>
      </p:sp>
      <p:sp>
        <p:nvSpPr>
          <p:cNvPr id="100032" name="TextBox 9"/>
          <p:cNvSpPr/>
          <p:nvPr/>
        </p:nvSpPr>
        <p:spPr>
          <a:xfrm xmlns:a="http://schemas.openxmlformats.org/drawingml/2006/main">
            <a:off x="756000" y="3816000"/>
            <a:ext cx="1080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On track</a:t>
            </a:r>
          </a:p>
        </p:txBody>
      </p:sp>
      <p:sp>
        <p:nvSpPr>
          <p:cNvPr id="100033" name="TextBox 10"/>
          <p:cNvSpPr/>
          <p:nvPr/>
        </p:nvSpPr>
        <p:spPr>
          <a:xfrm xmlns:a="http://schemas.openxmlformats.org/drawingml/2006/main">
            <a:off x="3168000" y="3276000"/>
            <a:ext cx="4968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933"/>
                </a:solidFill>
                <a:latin typeface="Calibri"/>
                <a:ea typeface="Calibri"/>
              </a:rPr>
              <a:t>Ingestion layer shipped; reporting migration holds to the July cutover date.</a:t>
            </a:r>
          </a:p>
        </p:txBody>
      </p:sp>
      <p:sp>
        <p:nvSpPr>
          <p:cNvPr id="100034" name="Program3"/>
          <p:cNvSpPr/>
          <p:nvPr/>
        </p:nvSpPr>
        <p:spPr>
          <a:xfrm xmlns:a="http://schemas.openxmlformats.org/drawingml/2006/main">
            <a:off x="540000" y="4608000"/>
            <a:ext cx="2340000" cy="12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B4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5" name="TextBox 12"/>
          <p:cNvSpPr/>
          <p:nvPr/>
        </p:nvSpPr>
        <p:spPr>
          <a:xfrm xmlns:a="http://schemas.openxmlformats.org/drawingml/2006/main">
            <a:off x="756000" y="4788000"/>
            <a:ext cx="190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Service Desk AI</a:t>
            </a:r>
          </a:p>
        </p:txBody>
      </p:sp>
      <p:sp>
        <p:nvSpPr>
          <p:cNvPr id="100036" name="TextBox 13"/>
          <p:cNvSpPr/>
          <p:nvPr/>
        </p:nvSpPr>
        <p:spPr>
          <a:xfrm xmlns:a="http://schemas.openxmlformats.org/drawingml/2006/main">
            <a:off x="756000" y="5328000"/>
            <a:ext cx="1080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At risk</a:t>
            </a:r>
          </a:p>
        </p:txBody>
      </p:sp>
      <p:sp>
        <p:nvSpPr>
          <p:cNvPr id="100037" name="TextBox 14"/>
          <p:cNvSpPr/>
          <p:nvPr/>
        </p:nvSpPr>
        <p:spPr>
          <a:xfrm xmlns:a="http://schemas.openxmlformats.org/drawingml/2006/main">
            <a:off x="3168000" y="4788000"/>
            <a:ext cx="4968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933"/>
                </a:solidFill>
                <a:latin typeface="Calibri"/>
                <a:ea typeface="Calibri"/>
              </a:rPr>
              <a:t>Pilot accuracy is below target; the vendor fix lands mid-July — watch item.</a:t>
            </a:r>
          </a:p>
        </p:txBody>
      </p:sp>
      <p:sp>
        <p:nvSpPr>
          <p:cNvPr id="100038" name="DeliverablesPanel"/>
          <p:cNvSpPr/>
          <p:nvPr/>
        </p:nvSpPr>
        <p:spPr>
          <a:xfrm xmlns:a="http://schemas.openxmlformats.org/drawingml/2006/main">
            <a:off x="8593200" y="1584000"/>
            <a:ext cx="3060000" cy="42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E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16"/>
          <p:cNvSpPr/>
          <p:nvPr/>
        </p:nvSpPr>
        <p:spPr>
          <a:xfrm xmlns:a="http://schemas.openxmlformats.org/drawingml/2006/main">
            <a:off x="8856000" y="1872000"/>
            <a:ext cx="255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1592A"/>
                </a:solidFill>
                <a:latin typeface="Consolas"/>
                <a:ea typeface="Consolas"/>
              </a:rPr>
              <a:t>KEY DELIVERABLES</a:t>
            </a:r>
          </a:p>
        </p:txBody>
      </p:sp>
      <p:sp>
        <p:nvSpPr>
          <p:cNvPr id="100040" name="TextBox 17"/>
          <p:cNvSpPr/>
          <p:nvPr/>
        </p:nvSpPr>
        <p:spPr>
          <a:xfrm xmlns:a="http://schemas.openxmlformats.org/drawingml/2006/main">
            <a:off x="8856000" y="2412000"/>
            <a:ext cx="288000" cy="2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100041" name="TextBox 18"/>
          <p:cNvSpPr/>
          <p:nvPr/>
        </p:nvSpPr>
        <p:spPr>
          <a:xfrm xmlns:a="http://schemas.openxmlformats.org/drawingml/2006/main">
            <a:off x="9252000" y="2394000"/>
            <a:ext cx="2268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933"/>
                </a:solidFill>
                <a:latin typeface="Calibri"/>
                <a:ea typeface="Calibri"/>
              </a:rPr>
              <a:t>Wave three go-live completed</a:t>
            </a:r>
          </a:p>
        </p:txBody>
      </p:sp>
      <p:sp>
        <p:nvSpPr>
          <p:cNvPr id="100042" name="TextBox 19"/>
          <p:cNvSpPr/>
          <p:nvPr/>
        </p:nvSpPr>
        <p:spPr>
          <a:xfrm xmlns:a="http://schemas.openxmlformats.org/drawingml/2006/main">
            <a:off x="8856000" y="3348000"/>
            <a:ext cx="288000" cy="2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100043" name="TextBox 20"/>
          <p:cNvSpPr/>
          <p:nvPr/>
        </p:nvSpPr>
        <p:spPr>
          <a:xfrm xmlns:a="http://schemas.openxmlformats.org/drawingml/2006/main">
            <a:off x="9252000" y="3330000"/>
            <a:ext cx="2268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933"/>
                </a:solidFill>
                <a:latin typeface="Calibri"/>
                <a:ea typeface="Calibri"/>
              </a:rPr>
              <a:t>Vendor statement of work signed</a:t>
            </a:r>
          </a:p>
        </p:txBody>
      </p:sp>
      <p:sp>
        <p:nvSpPr>
          <p:cNvPr id="100044" name="TextBox 21"/>
          <p:cNvSpPr/>
          <p:nvPr/>
        </p:nvSpPr>
        <p:spPr>
          <a:xfrm xmlns:a="http://schemas.openxmlformats.org/drawingml/2006/main">
            <a:off x="8856000" y="4284000"/>
            <a:ext cx="288000" cy="2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100045" name="TextBox 22"/>
          <p:cNvSpPr/>
          <p:nvPr/>
        </p:nvSpPr>
        <p:spPr>
          <a:xfrm xmlns:a="http://schemas.openxmlformats.org/drawingml/2006/main">
            <a:off x="9252000" y="4266000"/>
            <a:ext cx="2268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933"/>
                </a:solidFill>
                <a:latin typeface="Calibri"/>
                <a:ea typeface="Calibri"/>
              </a:rPr>
              <a:t>Data quality dashboard shipped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6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Delivery timeline</a:t>
            </a:r>
          </a:p>
        </p:txBody>
      </p:sp>
      <p:sp>
        <p:nvSpPr>
          <p:cNvPr id="100047" name="TextBox 2"/>
          <p:cNvSpPr/>
          <p:nvPr/>
        </p:nvSpPr>
        <p:spPr>
          <a:xfrm xmlns:a="http://schemas.openxmlformats.org/drawingml/2006/main">
            <a:off x="540000" y="109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TextBox 3"/>
          <p:cNvSpPr/>
          <p:nvPr/>
        </p:nvSpPr>
        <p:spPr>
          <a:xfrm xmlns:a="http://schemas.openxmlformats.org/drawingml/2006/main">
            <a:off x="540000" y="2016000"/>
            <a:ext cx="20052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Feb</a:t>
            </a:r>
          </a:p>
        </p:txBody>
      </p:sp>
      <p:sp>
        <p:nvSpPr>
          <p:cNvPr id="100049" name="TextBox 4"/>
          <p:cNvSpPr/>
          <p:nvPr/>
        </p:nvSpPr>
        <p:spPr>
          <a:xfrm xmlns:a="http://schemas.openxmlformats.org/drawingml/2006/main">
            <a:off x="2818800" y="2016000"/>
            <a:ext cx="20052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Mar</a:t>
            </a:r>
          </a:p>
        </p:txBody>
      </p:sp>
      <p:sp>
        <p:nvSpPr>
          <p:cNvPr id="100050" name="TextBox 5"/>
          <p:cNvSpPr/>
          <p:nvPr/>
        </p:nvSpPr>
        <p:spPr>
          <a:xfrm xmlns:a="http://schemas.openxmlformats.org/drawingml/2006/main">
            <a:off x="5097600" y="2016000"/>
            <a:ext cx="20052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Apr</a:t>
            </a:r>
          </a:p>
        </p:txBody>
      </p:sp>
      <p:sp>
        <p:nvSpPr>
          <p:cNvPr id="100051" name="TextBox 6"/>
          <p:cNvSpPr/>
          <p:nvPr/>
        </p:nvSpPr>
        <p:spPr>
          <a:xfrm xmlns:a="http://schemas.openxmlformats.org/drawingml/2006/main">
            <a:off x="7376400" y="2016000"/>
            <a:ext cx="20052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May</a:t>
            </a:r>
          </a:p>
        </p:txBody>
      </p:sp>
      <p:sp>
        <p:nvSpPr>
          <p:cNvPr id="100052" name="TextBox 7"/>
          <p:cNvSpPr/>
          <p:nvPr/>
        </p:nvSpPr>
        <p:spPr>
          <a:xfrm xmlns:a="http://schemas.openxmlformats.org/drawingml/2006/main">
            <a:off x="9655200" y="2016000"/>
            <a:ext cx="20052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282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Jun</a:t>
            </a:r>
          </a:p>
        </p:txBody>
      </p:sp>
      <p:sp>
        <p:nvSpPr>
          <p:cNvPr id="100053" name="TextBox 8"/>
          <p:cNvSpPr/>
          <p:nvPr/>
        </p:nvSpPr>
        <p:spPr>
          <a:xfrm xmlns:a="http://schemas.openxmlformats.org/drawingml/2006/main">
            <a:off x="540000" y="2880000"/>
            <a:ext cx="4284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E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9"/>
          <p:cNvSpPr/>
          <p:nvPr/>
        </p:nvSpPr>
        <p:spPr>
          <a:xfrm xmlns:a="http://schemas.openxmlformats.org/drawingml/2006/main">
            <a:off x="756000" y="2880000"/>
            <a:ext cx="3852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Design freeze</a:t>
            </a:r>
          </a:p>
        </p:txBody>
      </p:sp>
      <p:sp>
        <p:nvSpPr>
          <p:cNvPr id="100055" name="TextBox 10"/>
          <p:cNvSpPr/>
          <p:nvPr/>
        </p:nvSpPr>
        <p:spPr>
          <a:xfrm xmlns:a="http://schemas.openxmlformats.org/drawingml/2006/main">
            <a:off x="2818800" y="3636000"/>
            <a:ext cx="65628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E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11"/>
          <p:cNvSpPr/>
          <p:nvPr/>
        </p:nvSpPr>
        <p:spPr>
          <a:xfrm xmlns:a="http://schemas.openxmlformats.org/drawingml/2006/main">
            <a:off x="3034800" y="3636000"/>
            <a:ext cx="61308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Pilot at 3 sites</a:t>
            </a:r>
          </a:p>
        </p:txBody>
      </p:sp>
      <p:sp>
        <p:nvSpPr>
          <p:cNvPr id="100057" name="TextBox 12"/>
          <p:cNvSpPr/>
          <p:nvPr/>
        </p:nvSpPr>
        <p:spPr>
          <a:xfrm xmlns:a="http://schemas.openxmlformats.org/drawingml/2006/main">
            <a:off x="7376400" y="4392000"/>
            <a:ext cx="4284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E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13"/>
          <p:cNvSpPr/>
          <p:nvPr/>
        </p:nvSpPr>
        <p:spPr>
          <a:xfrm xmlns:a="http://schemas.openxmlformats.org/drawingml/2006/main">
            <a:off x="7592400" y="4392000"/>
            <a:ext cx="3852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Scale to all units</a:t>
            </a:r>
          </a:p>
        </p:txBody>
      </p:sp>
      <p:sp>
        <p:nvSpPr>
          <p:cNvPr id="100059" name="TextBox 14"/>
          <p:cNvSpPr/>
          <p:nvPr/>
        </p:nvSpPr>
        <p:spPr>
          <a:xfrm xmlns:a="http://schemas.openxmlformats.org/drawingml/2006/main">
            <a:off x="9756000" y="1566000"/>
            <a:ext cx="1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122B45"/>
                </a:solidFill>
                <a:latin typeface="Consolas"/>
                <a:ea typeface="Consolas"/>
              </a:rPr>
              <a:t>WE ARE HERE</a:t>
            </a:r>
          </a:p>
        </p:txBody>
      </p:sp>
      <p:sp>
        <p:nvSpPr>
          <p:cNvPr id="100060" name="TodayLine"/>
          <p:cNvSpPr/>
          <p:nvPr/>
        </p:nvSpPr>
        <p:spPr>
          <a:xfrm xmlns:a="http://schemas.openxmlformats.org/drawingml/2006/main">
            <a:off x="10641600" y="1872000"/>
            <a:ext cx="28800" cy="33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B4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1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Decisions requested</a:t>
            </a:r>
          </a:p>
        </p:txBody>
      </p:sp>
      <p:sp>
        <p:nvSpPr>
          <p:cNvPr id="100062" name="TextBox 2"/>
          <p:cNvSpPr/>
          <p:nvPr/>
        </p:nvSpPr>
        <p:spPr>
          <a:xfrm xmlns:a="http://schemas.openxmlformats.org/drawingml/2006/main">
            <a:off x="540000" y="109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Decision1"/>
          <p:cNvSpPr/>
          <p:nvPr/>
        </p:nvSpPr>
        <p:spPr>
          <a:xfrm xmlns:a="http://schemas.openxmlformats.org/drawingml/2006/main">
            <a:off x="540000" y="1512000"/>
            <a:ext cx="3520800" cy="46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D2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TextBox 4"/>
          <p:cNvSpPr/>
          <p:nvPr/>
        </p:nvSpPr>
        <p:spPr>
          <a:xfrm xmlns:a="http://schemas.openxmlformats.org/drawingml/2006/main">
            <a:off x="828000" y="1836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22B45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100065" name="TextBox 5"/>
          <p:cNvSpPr/>
          <p:nvPr/>
        </p:nvSpPr>
        <p:spPr>
          <a:xfrm xmlns:a="http://schemas.openxmlformats.org/drawingml/2006/main">
            <a:off x="828000" y="2304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Vendor renewal</a:t>
            </a:r>
          </a:p>
        </p:txBody>
      </p:sp>
      <p:sp>
        <p:nvSpPr>
          <p:cNvPr id="100066" name="TextBox 6"/>
          <p:cNvSpPr/>
          <p:nvPr/>
        </p:nvSpPr>
        <p:spPr>
          <a:xfrm xmlns:a="http://schemas.openxmlformats.org/drawingml/2006/main">
            <a:off x="828000" y="2988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7282F"/>
                </a:solidFill>
                <a:latin typeface="Consolas"/>
                <a:ea typeface="Consolas"/>
              </a:rPr>
              <a:t>GAP</a:t>
            </a:r>
          </a:p>
        </p:txBody>
      </p:sp>
      <p:sp>
        <p:nvSpPr>
          <p:cNvPr id="100067" name="TextBox 7"/>
          <p:cNvSpPr/>
          <p:nvPr/>
        </p:nvSpPr>
        <p:spPr>
          <a:xfrm xmlns:a="http://schemas.openxmlformats.org/drawingml/2006/main">
            <a:off x="828000" y="3312000"/>
            <a:ext cx="29448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Current contract lapses 31 Jul with no fallback coverage for support.</a:t>
            </a:r>
          </a:p>
        </p:txBody>
      </p:sp>
      <p:sp>
        <p:nvSpPr>
          <p:cNvPr id="100068" name="TextBox 8"/>
          <p:cNvSpPr/>
          <p:nvPr/>
        </p:nvSpPr>
        <p:spPr>
          <a:xfrm xmlns:a="http://schemas.openxmlformats.org/drawingml/2006/main">
            <a:off x="828000" y="4356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0A651"/>
                </a:solidFill>
                <a:latin typeface="Consolas"/>
                <a:ea typeface="Consolas"/>
              </a:rPr>
              <a:t>PROPOSAL</a:t>
            </a:r>
          </a:p>
        </p:txBody>
      </p:sp>
      <p:sp>
        <p:nvSpPr>
          <p:cNvPr id="100069" name="TextBox 9"/>
          <p:cNvSpPr/>
          <p:nvPr/>
        </p:nvSpPr>
        <p:spPr>
          <a:xfrm xmlns:a="http://schemas.openxmlformats.org/drawingml/2006/main">
            <a:off x="828000" y="4680000"/>
            <a:ext cx="2944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Renew for twelve months at the renegotiated rate agreed in June.</a:t>
            </a:r>
          </a:p>
        </p:txBody>
      </p:sp>
      <p:sp>
        <p:nvSpPr>
          <p:cNvPr id="100070" name="Decision2"/>
          <p:cNvSpPr/>
          <p:nvPr/>
        </p:nvSpPr>
        <p:spPr>
          <a:xfrm xmlns:a="http://schemas.openxmlformats.org/drawingml/2006/main">
            <a:off x="4334400" y="1512000"/>
            <a:ext cx="3520800" cy="46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D2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11"/>
          <p:cNvSpPr/>
          <p:nvPr/>
        </p:nvSpPr>
        <p:spPr>
          <a:xfrm xmlns:a="http://schemas.openxmlformats.org/drawingml/2006/main">
            <a:off x="4622400" y="1836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22B45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100072" name="TextBox 12"/>
          <p:cNvSpPr/>
          <p:nvPr/>
        </p:nvSpPr>
        <p:spPr>
          <a:xfrm xmlns:a="http://schemas.openxmlformats.org/drawingml/2006/main">
            <a:off x="4622400" y="2304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Scale budget</a:t>
            </a:r>
          </a:p>
        </p:txBody>
      </p:sp>
      <p:sp>
        <p:nvSpPr>
          <p:cNvPr id="100073" name="TextBox 13"/>
          <p:cNvSpPr/>
          <p:nvPr/>
        </p:nvSpPr>
        <p:spPr>
          <a:xfrm xmlns:a="http://schemas.openxmlformats.org/drawingml/2006/main">
            <a:off x="4622400" y="2988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7282F"/>
                </a:solidFill>
                <a:latin typeface="Consolas"/>
                <a:ea typeface="Consolas"/>
              </a:rPr>
              <a:t>GAP</a:t>
            </a:r>
          </a:p>
        </p:txBody>
      </p:sp>
      <p:sp>
        <p:nvSpPr>
          <p:cNvPr id="100074" name="TextBox 14"/>
          <p:cNvSpPr/>
          <p:nvPr/>
        </p:nvSpPr>
        <p:spPr>
          <a:xfrm xmlns:a="http://schemas.openxmlformats.org/drawingml/2006/main">
            <a:off x="4622400" y="3312000"/>
            <a:ext cx="29448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Waves five and six of the rollout are unfunded beyond August.</a:t>
            </a:r>
          </a:p>
        </p:txBody>
      </p:sp>
      <p:sp>
        <p:nvSpPr>
          <p:cNvPr id="100075" name="TextBox 15"/>
          <p:cNvSpPr/>
          <p:nvPr/>
        </p:nvSpPr>
        <p:spPr>
          <a:xfrm xmlns:a="http://schemas.openxmlformats.org/drawingml/2006/main">
            <a:off x="4622400" y="4356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0A651"/>
                </a:solidFill>
                <a:latin typeface="Consolas"/>
                <a:ea typeface="Consolas"/>
              </a:rPr>
              <a:t>PROPOSAL</a:t>
            </a:r>
          </a:p>
        </p:txBody>
      </p:sp>
      <p:sp>
        <p:nvSpPr>
          <p:cNvPr id="100076" name="TextBox 16"/>
          <p:cNvSpPr/>
          <p:nvPr/>
        </p:nvSpPr>
        <p:spPr>
          <a:xfrm xmlns:a="http://schemas.openxmlformats.org/drawingml/2006/main">
            <a:off x="4622400" y="4680000"/>
            <a:ext cx="2944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Release the contingency line to fund the remaining rollout waves.</a:t>
            </a:r>
          </a:p>
        </p:txBody>
      </p:sp>
      <p:sp>
        <p:nvSpPr>
          <p:cNvPr id="100077" name="Decision3"/>
          <p:cNvSpPr/>
          <p:nvPr/>
        </p:nvSpPr>
        <p:spPr>
          <a:xfrm xmlns:a="http://schemas.openxmlformats.org/drawingml/2006/main">
            <a:off x="8128800" y="1512000"/>
            <a:ext cx="3520800" cy="46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D2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TextBox 18"/>
          <p:cNvSpPr/>
          <p:nvPr/>
        </p:nvSpPr>
        <p:spPr>
          <a:xfrm xmlns:a="http://schemas.openxmlformats.org/drawingml/2006/main">
            <a:off x="8416800" y="1836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22B45"/>
                </a:solidFill>
                <a:latin typeface="Cambria"/>
                <a:ea typeface="Cambria"/>
              </a:rPr>
              <a:t>03</a:t>
            </a:r>
          </a:p>
        </p:txBody>
      </p:sp>
      <p:sp>
        <p:nvSpPr>
          <p:cNvPr id="100079" name="TextBox 19"/>
          <p:cNvSpPr/>
          <p:nvPr/>
        </p:nvSpPr>
        <p:spPr>
          <a:xfrm xmlns:a="http://schemas.openxmlformats.org/drawingml/2006/main">
            <a:off x="8416800" y="2304000"/>
            <a:ext cx="29448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F2933"/>
                </a:solidFill>
                <a:latin typeface="Calibri"/>
                <a:ea typeface="Calibri"/>
              </a:rPr>
              <a:t>Hiring plan</a:t>
            </a:r>
          </a:p>
        </p:txBody>
      </p:sp>
      <p:sp>
        <p:nvSpPr>
          <p:cNvPr id="100080" name="TextBox 20"/>
          <p:cNvSpPr/>
          <p:nvPr/>
        </p:nvSpPr>
        <p:spPr>
          <a:xfrm xmlns:a="http://schemas.openxmlformats.org/drawingml/2006/main">
            <a:off x="8416800" y="2988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7282F"/>
                </a:solidFill>
                <a:latin typeface="Consolas"/>
                <a:ea typeface="Consolas"/>
              </a:rPr>
              <a:t>GAP</a:t>
            </a:r>
          </a:p>
        </p:txBody>
      </p:sp>
      <p:sp>
        <p:nvSpPr>
          <p:cNvPr id="100081" name="TextBox 21"/>
          <p:cNvSpPr/>
          <p:nvPr/>
        </p:nvSpPr>
        <p:spPr>
          <a:xfrm xmlns:a="http://schemas.openxmlformats.org/drawingml/2006/main">
            <a:off x="8416800" y="3312000"/>
            <a:ext cx="29448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Two platform engineering roles have been open since April.</a:t>
            </a:r>
          </a:p>
        </p:txBody>
      </p:sp>
      <p:sp>
        <p:nvSpPr>
          <p:cNvPr id="100082" name="TextBox 22"/>
          <p:cNvSpPr/>
          <p:nvPr/>
        </p:nvSpPr>
        <p:spPr>
          <a:xfrm xmlns:a="http://schemas.openxmlformats.org/drawingml/2006/main">
            <a:off x="8416800" y="4356000"/>
            <a:ext cx="29448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0A651"/>
                </a:solidFill>
                <a:latin typeface="Consolas"/>
                <a:ea typeface="Consolas"/>
              </a:rPr>
              <a:t>PROPOSAL</a:t>
            </a:r>
          </a:p>
        </p:txBody>
      </p:sp>
      <p:sp>
        <p:nvSpPr>
          <p:cNvPr id="100083" name="TextBox 23"/>
          <p:cNvSpPr/>
          <p:nvPr/>
        </p:nvSpPr>
        <p:spPr>
          <a:xfrm xmlns:a="http://schemas.openxmlformats.org/drawingml/2006/main">
            <a:off x="8416800" y="4680000"/>
            <a:ext cx="2944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933"/>
                </a:solidFill>
                <a:latin typeface="Calibri"/>
                <a:ea typeface="Calibri"/>
              </a:rPr>
              <a:t>Approve backfill through contract-to-hire staffing this quarter.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4" name="Title"/>
          <p:cNvSpPr/>
          <p:nvPr/>
        </p:nvSpPr>
        <p:spPr>
          <a:xfrm xmlns:a="http://schemas.openxmlformats.org/drawingml/2006/main">
            <a:off x="540000" y="396000"/>
            <a:ext cx="11113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Status and next steps</a:t>
            </a:r>
          </a:p>
        </p:txBody>
      </p:sp>
      <p:sp>
        <p:nvSpPr>
          <p:cNvPr id="100085" name="TextBox 2"/>
          <p:cNvSpPr/>
          <p:nvPr/>
        </p:nvSpPr>
        <p:spPr>
          <a:xfrm xmlns:a="http://schemas.openxmlformats.org/drawingml/2006/main">
            <a:off x="540000" y="1098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CaveatBanner"/>
          <p:cNvSpPr/>
          <p:nvPr/>
        </p:nvSpPr>
        <p:spPr>
          <a:xfrm xmlns:a="http://schemas.openxmlformats.org/drawingml/2006/main">
            <a:off x="540000" y="1512000"/>
            <a:ext cx="111132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E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7" name="TextBox 4"/>
          <p:cNvSpPr/>
          <p:nvPr/>
        </p:nvSpPr>
        <p:spPr>
          <a:xfrm xmlns:a="http://schemas.openxmlformats.org/drawingml/2006/main">
            <a:off x="792000" y="1512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1592A"/>
                </a:solidFill>
                <a:latin typeface="Calibri"/>
                <a:ea typeface="Calibri"/>
              </a:rPr>
              <a:t>INITIAL RESEARCH — MODEL NOT YET FINALIZED</a:t>
            </a:r>
          </a:p>
        </p:txBody>
      </p:sp>
      <p:sp>
        <p:nvSpPr>
          <p:cNvPr id="100088" name="StepNum1"/>
          <p:cNvSpPr/>
          <p:nvPr/>
        </p:nvSpPr>
        <p:spPr>
          <a:xfrm xmlns:a="http://schemas.openxmlformats.org/drawingml/2006/main">
            <a:off x="540000" y="2736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100089" name="TextBox 6"/>
          <p:cNvSpPr/>
          <p:nvPr/>
        </p:nvSpPr>
        <p:spPr>
          <a:xfrm xmlns:a="http://schemas.openxmlformats.org/drawingml/2006/main">
            <a:off x="1332000" y="2682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1592A"/>
                </a:solidFill>
                <a:latin typeface="Consolas"/>
                <a:ea typeface="Consolas"/>
              </a:rPr>
              <a:t>NEXT</a:t>
            </a:r>
          </a:p>
        </p:txBody>
      </p:sp>
      <p:sp>
        <p:nvSpPr>
          <p:cNvPr id="100090" name="TextBox 7"/>
          <p:cNvSpPr/>
          <p:nvPr/>
        </p:nvSpPr>
        <p:spPr>
          <a:xfrm xmlns:a="http://schemas.openxmlformats.org/drawingml/2006/main">
            <a:off x="1332000" y="2988000"/>
            <a:ext cx="756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Alignment meeting with the platform vendor</a:t>
            </a:r>
          </a:p>
        </p:txBody>
      </p:sp>
      <p:sp>
        <p:nvSpPr>
          <p:cNvPr id="100091" name="TextBox 8"/>
          <p:cNvSpPr/>
          <p:nvPr/>
        </p:nvSpPr>
        <p:spPr>
          <a:xfrm xmlns:a="http://schemas.openxmlformats.org/drawingml/2006/main">
            <a:off x="9180000" y="3006000"/>
            <a:ext cx="247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lang="en-US" sz="1300" b="1">
                <a:solidFill>
                  <a:srgbClr val="5B6B82"/>
                </a:solidFill>
                <a:latin typeface="Consolas"/>
                <a:ea typeface="Consolas"/>
              </a:rPr>
              <a:t>K. Dao · 05 Jul</a:t>
            </a:r>
          </a:p>
        </p:txBody>
      </p:sp>
      <p:sp>
        <p:nvSpPr>
          <p:cNvPr id="100092" name="StepNum2"/>
          <p:cNvSpPr/>
          <p:nvPr/>
        </p:nvSpPr>
        <p:spPr>
          <a:xfrm xmlns:a="http://schemas.openxmlformats.org/drawingml/2006/main">
            <a:off x="540000" y="432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00093" name="TextBox 10"/>
          <p:cNvSpPr/>
          <p:nvPr/>
        </p:nvSpPr>
        <p:spPr>
          <a:xfrm xmlns:a="http://schemas.openxmlformats.org/drawingml/2006/main">
            <a:off x="1332000" y="4266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1592A"/>
                </a:solidFill>
                <a:latin typeface="Consolas"/>
                <a:ea typeface="Consolas"/>
              </a:rPr>
              <a:t>FOR CEO</a:t>
            </a:r>
          </a:p>
        </p:txBody>
      </p:sp>
      <p:sp>
        <p:nvSpPr>
          <p:cNvPr id="100094" name="TextBox 11"/>
          <p:cNvSpPr/>
          <p:nvPr/>
        </p:nvSpPr>
        <p:spPr>
          <a:xfrm xmlns:a="http://schemas.openxmlformats.org/drawingml/2006/main">
            <a:off x="1332000" y="4572000"/>
            <a:ext cx="756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Approve the centralized onboarding budget</a:t>
            </a:r>
          </a:p>
        </p:txBody>
      </p:sp>
      <p:sp>
        <p:nvSpPr>
          <p:cNvPr id="100095" name="TextBox 12"/>
          <p:cNvSpPr/>
          <p:nvPr/>
        </p:nvSpPr>
        <p:spPr>
          <a:xfrm xmlns:a="http://schemas.openxmlformats.org/drawingml/2006/main">
            <a:off x="9180000" y="4590000"/>
            <a:ext cx="247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lang="en-US" sz="1300" b="1">
                <a:solidFill>
                  <a:srgbClr val="5B6B82"/>
                </a:solidFill>
                <a:latin typeface="Consolas"/>
                <a:ea typeface="Consolas"/>
              </a:rPr>
              <a:t>T. Le · 12 Jul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6" name="TextBox 1"/>
          <p:cNvSpPr/>
          <p:nvPr/>
        </p:nvSpPr>
        <p:spPr>
          <a:xfrm xmlns:a="http://schemas.openxmlformats.org/drawingml/2006/main">
            <a:off x="10260000" y="288000"/>
            <a:ext cx="139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5B6B82"/>
                </a:solidFill>
                <a:latin typeface="Consolas"/>
                <a:ea typeface="Consolas"/>
              </a:rPr>
              <a:t>[COMPANY LOGO]</a:t>
            </a:r>
          </a:p>
        </p:txBody>
      </p:sp>
      <p:sp>
        <p:nvSpPr>
          <p:cNvPr id="100097" name="Title"/>
          <p:cNvSpPr/>
          <p:nvPr/>
        </p:nvSpPr>
        <p:spPr>
          <a:xfrm xmlns:a="http://schemas.openxmlformats.org/drawingml/2006/main">
            <a:off x="540000" y="936000"/>
            <a:ext cx="1008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2B45"/>
                </a:solidFill>
                <a:latin typeface="Cambria"/>
                <a:ea typeface="Cambria"/>
              </a:rPr>
              <a:t>Asks of this committee</a:t>
            </a:r>
          </a:p>
        </p:txBody>
      </p:sp>
      <p:sp>
        <p:nvSpPr>
          <p:cNvPr id="100098" name="TextBox 3"/>
          <p:cNvSpPr/>
          <p:nvPr/>
        </p:nvSpPr>
        <p:spPr>
          <a:xfrm xmlns:a="http://schemas.openxmlformats.org/drawingml/2006/main">
            <a:off x="540000" y="1710000"/>
            <a:ext cx="126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9" name="TextBox 4"/>
          <p:cNvSpPr/>
          <p:nvPr/>
        </p:nvSpPr>
        <p:spPr>
          <a:xfrm xmlns:a="http://schemas.openxmlformats.org/drawingml/2006/main">
            <a:off x="540000" y="268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TextBox 5"/>
          <p:cNvSpPr/>
          <p:nvPr/>
        </p:nvSpPr>
        <p:spPr>
          <a:xfrm xmlns:a="http://schemas.openxmlformats.org/drawingml/2006/main">
            <a:off x="1116000" y="2520000"/>
            <a:ext cx="1026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Approve the vendor renewal and the scale budget today.</a:t>
            </a:r>
          </a:p>
        </p:txBody>
      </p:sp>
      <p:sp>
        <p:nvSpPr>
          <p:cNvPr id="100101" name="TextBox 6"/>
          <p:cNvSpPr/>
          <p:nvPr/>
        </p:nvSpPr>
        <p:spPr>
          <a:xfrm xmlns:a="http://schemas.openxmlformats.org/drawingml/2006/main">
            <a:off x="540000" y="369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2" name="TextBox 7"/>
          <p:cNvSpPr/>
          <p:nvPr/>
        </p:nvSpPr>
        <p:spPr>
          <a:xfrm xmlns:a="http://schemas.openxmlformats.org/drawingml/2006/main">
            <a:off x="1116000" y="3528000"/>
            <a:ext cx="1026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Nominate one sponsor per business unit by mid-July.</a:t>
            </a:r>
          </a:p>
        </p:txBody>
      </p:sp>
      <p:sp>
        <p:nvSpPr>
          <p:cNvPr id="100103" name="TextBox 8"/>
          <p:cNvSpPr/>
          <p:nvPr/>
        </p:nvSpPr>
        <p:spPr>
          <a:xfrm xmlns:a="http://schemas.openxmlformats.org/drawingml/2006/main">
            <a:off x="540000" y="469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TextBox 9"/>
          <p:cNvSpPr/>
          <p:nvPr/>
        </p:nvSpPr>
        <p:spPr>
          <a:xfrm xmlns:a="http://schemas.openxmlformats.org/drawingml/2006/main">
            <a:off x="1116000" y="4536000"/>
            <a:ext cx="1026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933"/>
                </a:solidFill>
                <a:latin typeface="Calibri"/>
                <a:ea typeface="Calibri"/>
              </a:rPr>
              <a:t>Hold thirty minutes monthly for this steering review.</a:t>
            </a:r>
          </a:p>
        </p:txBody>
      </p:sp>
      <p:sp>
        <p:nvSpPr>
          <p:cNvPr id="100105" name="TextBox 10"/>
          <p:cNvSpPr/>
          <p:nvPr/>
        </p:nvSpPr>
        <p:spPr>
          <a:xfrm xmlns:a="http://schemas.openxmlformats.org/drawingml/2006/main">
            <a:off x="540000" y="5976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B6B82"/>
                </a:solidFill>
                <a:latin typeface="Calibri"/>
                <a:ea typeface="Calibri"/>
              </a:rPr>
              <a:t>Prepared by the Transformation Office · [contact]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2026-07-24T09:33:24Z</dcterms:created>
  <cp:lastModifiedBy>OfficeCLI</cp:lastModifiedBy>
  <dcterms:modified xsi:type="dcterms:W3CDTF">2026-07-24T09:33:24Z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2026-07-24T09:33:29Z</vt:lpwstr>
  </op:property>
</op:Properties>
</file>