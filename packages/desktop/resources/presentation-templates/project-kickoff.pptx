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slides/charts/chart1.xml" ContentType="application/vnd.openxmlformats-officedocument.drawingml.chart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cbdef425bf5e418b" /><Relationship Type="http://schemas.openxmlformats.org/package/2006/relationships/metadata/core-properties" Target="/docProps/core.xml" Id="Rb8db852301a443ec" /><Relationship Type="http://schemas.openxmlformats.org/officeDocument/2006/relationships/extended-properties" Target="/docProps/app.xml" Id="R733ef3a3ca79403d" /><Relationship Type="http://schemas.openxmlformats.org/officeDocument/2006/relationships/custom-properties" Target="/docProps/custom.xml" Id="Rc3e38cfdd2324e08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sldIdLst>
    <p:sldId id="256" r:id="Rc9e18454ff6c4808"/>
    <p:sldId id="257" r:id="R217ad6b63506482b"/>
    <p:sldId id="258" r:id="Ra81466f976904430"/>
    <p:sldId id="259" r:id="R8c3092e2cc794ea9"/>
    <p:sldId id="260" r:id="R536dc306ea844a22"/>
    <p:sldId id="261" r:id="R0412b2e9d93f413f"/>
    <p:sldId id="262" r:id="R390461a406cc4eab"/>
    <p:sldId id="263" r:id="R0bd912f0713f409e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c9e18454ff6c4808" /><Relationship Type="http://schemas.openxmlformats.org/officeDocument/2006/relationships/slide" Target="/ppt/slides/slide2.xml" Id="R217ad6b63506482b" /><Relationship Type="http://schemas.openxmlformats.org/officeDocument/2006/relationships/slide" Target="/ppt/slides/slide3.xml" Id="Ra81466f976904430" /><Relationship Type="http://schemas.openxmlformats.org/officeDocument/2006/relationships/slide" Target="/ppt/slides/slide4.xml" Id="R8c3092e2cc794ea9" /><Relationship Type="http://schemas.openxmlformats.org/officeDocument/2006/relationships/slide" Target="/ppt/slides/slide5.xml" Id="R536dc306ea844a22" /><Relationship Type="http://schemas.openxmlformats.org/officeDocument/2006/relationships/slide" Target="/ppt/slides/slide6.xml" Id="R0412b2e9d93f413f" /><Relationship Type="http://schemas.openxmlformats.org/officeDocument/2006/relationships/slide" Target="/ppt/slides/slide7.xml" Id="R390461a406cc4eab" /><Relationship Type="http://schemas.openxmlformats.org/officeDocument/2006/relationships/slide" Target="/ppt/slides/slide8.xml" Id="R0bd912f0713f409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Cover. Replace project, sponsor, PM and date. The bleeding circle is the deck motif — keep it.</a:t>
            </a:r>
          </a:p>
        </p:txBody>
      </p:sp>
    </p:spTree>
  </p:cSld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Three beats: problem, cost of doing nothing, opportunity. The chart makes the delay cost concrete.</a:t>
            </a:r>
          </a:p>
        </p:txBody>
      </p:sp>
    </p:spTree>
  </p:cSld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Read out-of-scope out loud — it prevents the most common kickoff misunderstanding.</a:t>
            </a:r>
          </a:p>
        </p:txBody>
      </p:sp>
    </p:spTree>
  </p:cSld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Names and tie-break rights up front; ambiguity here is where projects slip.</a:t>
            </a:r>
          </a:p>
        </p:txBody>
      </p:sp>
    </p:spTree>
  </p:cSld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Phases with dates, milestones as demos. Duplicate a phase box if the project has five phases.</a:t>
            </a:r>
          </a:p>
        </p:txBody>
      </p:sp>
    </p:spTree>
  </p:cSld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Divider before the execution details. The giant number matches the agenda order.</a:t>
            </a:r>
          </a:p>
        </p:txBody>
      </p:sp>
    </p:spTree>
  </p:cSld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Each risk pairs with a mitigation and an owner. Review this grid at every steering meeting.</a:t>
            </a:r>
          </a:p>
        </p:txBody>
      </p:sp>
    </p:spTree>
  </p:cSld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Every commitment has an owner and a date. Close by confirming the first steering review.</a:t>
            </a:r>
          </a:p>
        </p:txBody>
      </p:sp>
    </p:spTree>
  </p:cSld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48755730d51426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1d87e72646e4a1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ad455b511894e0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739e10d51fc4f6a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5e33d4122514264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5c45aa28894042c9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2bfcfa99534939" /><Relationship Type="http://schemas.openxmlformats.org/officeDocument/2006/relationships/notesSlide" Target="/ppt/notesSlides/notesSlide1.xml" Id="R357c06cfc00f4c3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19820b3fbe4ca8" /><Relationship Type="http://schemas.openxmlformats.org/officeDocument/2006/relationships/chart" Target="/ppt/slides/charts/chart1.xml" Id="Rb0dd79cbbf524502" /><Relationship Type="http://schemas.openxmlformats.org/officeDocument/2006/relationships/notesSlide" Target="/ppt/notesSlides/notesSlide2.xml" Id="R97df963f2554402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5731b57722407b" /><Relationship Type="http://schemas.openxmlformats.org/officeDocument/2006/relationships/notesSlide" Target="/ppt/notesSlides/notesSlide3.xml" Id="Rcb50f095cbb0403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f61fd7421c4bc9" /><Relationship Type="http://schemas.openxmlformats.org/officeDocument/2006/relationships/notesSlide" Target="/ppt/notesSlides/notesSlide4.xml" Id="Re86c3a602bb8484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4ba9e9ff494c79" /><Relationship Type="http://schemas.openxmlformats.org/officeDocument/2006/relationships/notesSlide" Target="/ppt/notesSlides/notesSlide5.xml" Id="R044b55b92b78423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fba8c1ce734de6" /><Relationship Type="http://schemas.openxmlformats.org/officeDocument/2006/relationships/notesSlide" Target="/ppt/notesSlides/notesSlide6.xml" Id="R3ccb213008ad422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efdcf91a44429c" /><Relationship Type="http://schemas.openxmlformats.org/officeDocument/2006/relationships/notesSlide" Target="/ppt/notesSlides/notesSlide7.xml" Id="R5e309ab4b296413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d6bd445a8c4073" /><Relationship Type="http://schemas.openxmlformats.org/officeDocument/2006/relationships/notesSlide" Target="/ppt/notesSlides/notesSlide8.xml" Id="R474cf8e4eb9d4a96" /></Relationships>
</file>

<file path=ppt/slides/charts/chart1.xml><?xml version="1.0" encoding="utf-8"?>
<c:chartSpace xmlns:c="http://schemas.openxmlformats.org/drawingml/2006/chart">
  <c:date1904 val="0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00" b="1"/>
            </a:pPr>
            <a:r>
              <a:rPr lang="en-US" sz="1400" b="1"/>
              <a:t>Cost of waiting, $K per quarter</a:t>
            </a:r>
          </a:p>
        </c:rich>
      </c:tx>
      <c:overlay val="0"/>
    </c:title>
    <c:plotArea>
      <c:layout/>
      <c:barChart>
        <c:barDir val="col"/>
        <c:grouping val="clustered"/>
        <c:varyColors val="0"/>
        <c:ser>
          <c:idx val="0"/>
          <c:order val="0"/>
          <c:tx>
            <c:v>Rework cost $K</c:v>
          </c:tx>
          <c:spPr>
            <a:solidFill xmlns:a="http://schemas.openxmlformats.org/drawingml/2006/main">
              <a:srgbClr val="0E7C7B"/>
            </a:solidFill>
          </c:spPr>
          <c:invertIfNegative val="0"/>
          <c:cat>
            <c:strLit>
              <c:ptCount val="3"/>
              <c:pt idx="0">
                <c:v>Now</c:v>
              </c:pt>
              <c:pt idx="1">
                <c:v>+1 qtr</c:v>
              </c:pt>
              <c:pt idx="2">
                <c:v>+2 qtrs</c:v>
              </c:pt>
            </c:strLit>
          </c:cat>
          <c:val>
            <c:numLit>
              <c:formatCode>General</c:formatCode>
              <c:ptCount val="3"/>
              <c:pt idx="0">
                <c:v>120</c:v>
              </c:pt>
              <c:pt idx="1">
                <c:v>180</c:v>
              </c:pt>
              <c:pt idx="2">
                <c:v>260</c:v>
              </c:pt>
            </c:numLit>
          </c:val>
        </c:ser>
        <c:gapWidth val="150"/>
        <c:axId val="1"/>
        <c:axId val="2"/>
      </c:barChart>
      <c:catAx>
        <c:axId val="1"/>
        <c:scaling>
          <c:orientation val="minMax"/>
        </c:scaling>
        <c:delete val="0"/>
        <c:axPos val="b"/>
        <c:majorTickMark val="out"/>
        <c:minorTickMark val="none"/>
        <c:tickLblPos val="nextTo"/>
        <c:crossAx val="2"/>
        <c:crosses val="autoZero"/>
        <c:auto val="1"/>
        <c:lblAlgn val="ctr"/>
        <c:lblOffset val="100"/>
      </c:catAx>
      <c:valAx>
        <c:axId val="2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1"/>
        <c:crosses val="autoZero"/>
        <c:crossBetween val="between"/>
      </c:valAx>
    </c:plotArea>
    <c:legend>
      <c:legendPos val="b"/>
      <c:overlay val="0"/>
    </c:legend>
    <c:plotVisOnly val="1"/>
    <c:dispBlanksAs val="gap"/>
  </c:chart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A4F4E"/>
        </a:solidFill>
      </p:bgPr>
    </p:bg>
    <p:spTree>
      <p:nvGrpSpPr>
        <p:cNvPr id="1" name=""/>
        <p:cNvGrpSpPr/>
        <p:nvPr/>
      </p:nvGrpSpPr>
      <p:grpSpPr/>
      <p:sp>
        <p:nvSpPr>
          <p:cNvPr id="100000" name="TextBox 1"/>
          <p:cNvSpPr/>
          <p:nvPr/>
        </p:nvSpPr>
        <p:spPr>
          <a:xfrm xmlns:a="http://schemas.openxmlformats.org/drawingml/2006/main">
            <a:off x="8280000" y="-1440000"/>
            <a:ext cx="5760000" cy="5760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C7B">
              <a:alpha val="35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01" name="TextBox 2"/>
          <p:cNvSpPr/>
          <p:nvPr/>
        </p:nvSpPr>
        <p:spPr>
          <a:xfrm xmlns:a="http://schemas.openxmlformats.org/drawingml/2006/main">
            <a:off x="900000" y="2196000"/>
            <a:ext cx="7200000" cy="3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B9D6D4"/>
                </a:solidFill>
                <a:latin typeface="Consolas"/>
                <a:ea typeface="Consolas"/>
              </a:rPr>
              <a:t>PROJECT KICKOFF</a:t>
            </a:r>
          </a:p>
        </p:txBody>
      </p:sp>
      <p:sp>
        <p:nvSpPr>
          <p:cNvPr id="100002" name="Title"/>
          <p:cNvSpPr/>
          <p:nvPr/>
        </p:nvSpPr>
        <p:spPr>
          <a:xfrm xmlns:a="http://schemas.openxmlformats.org/drawingml/2006/main">
            <a:off x="900000" y="2592000"/>
            <a:ext cx="9000000" cy="93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4400" b="1">
                <a:solidFill>
                  <a:srgbClr val="FFFFFF"/>
                </a:solidFill>
                <a:latin typeface="Cambria"/>
                <a:ea typeface="Cambria"/>
              </a:rPr>
              <a:t>Project Atlas — Kickoff</a:t>
            </a:r>
          </a:p>
        </p:txBody>
      </p:sp>
      <p:sp>
        <p:nvSpPr>
          <p:cNvPr id="100003" name="TextBox 4"/>
          <p:cNvSpPr/>
          <p:nvPr/>
        </p:nvSpPr>
        <p:spPr>
          <a:xfrm xmlns:a="http://schemas.openxmlformats.org/drawingml/2006/main">
            <a:off x="900000" y="3636000"/>
            <a:ext cx="9000000" cy="3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B9D6D4"/>
                </a:solidFill>
                <a:latin typeface="Calibri"/>
                <a:ea typeface="Calibri"/>
              </a:rPr>
              <a:t>Sponsor: D. Osei — PM: M. Tran — 3 November FY26</a:t>
            </a:r>
          </a:p>
        </p:txBody>
      </p:sp>
      <p:sp>
        <p:nvSpPr>
          <p:cNvPr id="100004" name="TextBox 5"/>
          <p:cNvSpPr/>
          <p:nvPr/>
        </p:nvSpPr>
        <p:spPr>
          <a:xfrm xmlns:a="http://schemas.openxmlformats.org/drawingml/2006/main">
            <a:off x="900000" y="5983200"/>
            <a:ext cx="7920000" cy="3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1400">
                <a:solidFill>
                  <a:srgbClr val="B9D6D4"/>
                </a:solidFill>
                <a:latin typeface="Calibri"/>
                <a:ea typeface="Calibri"/>
              </a:rPr>
              <a:t>Working session — decisions logged in the project charter</a:t>
            </a:r>
          </a:p>
        </p:txBody>
      </p:sp>
    </p:spTree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0005" name="Title"/>
          <p:cNvSpPr/>
          <p:nvPr/>
        </p:nvSpPr>
        <p:spPr>
          <a:xfrm xmlns:a="http://schemas.openxmlformats.org/drawingml/2006/main">
            <a:off x="540000" y="396000"/>
            <a:ext cx="11113200" cy="68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0A4F4E"/>
                </a:solidFill>
                <a:latin typeface="Cambria"/>
                <a:ea typeface="Cambria"/>
              </a:rPr>
              <a:t>Why This Project</a:t>
            </a:r>
          </a:p>
        </p:txBody>
      </p:sp>
      <p:sp>
        <p:nvSpPr>
          <p:cNvPr id="100006" name="TextBox 2"/>
          <p:cNvSpPr/>
          <p:nvPr/>
        </p:nvSpPr>
        <p:spPr>
          <a:xfrm xmlns:a="http://schemas.openxmlformats.org/drawingml/2006/main">
            <a:off x="540000" y="1422000"/>
            <a:ext cx="612000" cy="612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300" b="1">
                <a:solidFill>
                  <a:srgbClr val="FFFFFF"/>
                </a:solidFill>
                <a:latin typeface="Calibri"/>
                <a:ea typeface="Calibri"/>
              </a:rPr>
              <a:t>1</a:t>
            </a:r>
          </a:p>
        </p:txBody>
      </p:sp>
      <p:sp>
        <p:nvSpPr>
          <p:cNvPr id="100007" name="TextBox 3"/>
          <p:cNvSpPr/>
          <p:nvPr/>
        </p:nvSpPr>
        <p:spPr>
          <a:xfrm xmlns:a="http://schemas.openxmlformats.org/drawingml/2006/main">
            <a:off x="1332000" y="1440000"/>
            <a:ext cx="6300000" cy="43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2000" b="1">
                <a:solidFill>
                  <a:srgbClr val="1F2933"/>
                </a:solidFill>
                <a:latin typeface="Calibri"/>
                <a:ea typeface="Calibri"/>
              </a:rPr>
              <a:t>The problem</a:t>
            </a:r>
          </a:p>
        </p:txBody>
      </p:sp>
      <p:sp>
        <p:nvSpPr>
          <p:cNvPr id="100008" name="TextBox 4"/>
          <p:cNvSpPr/>
          <p:nvPr/>
        </p:nvSpPr>
        <p:spPr>
          <a:xfrm xmlns:a="http://schemas.openxmlformats.org/drawingml/2006/main">
            <a:off x="1332000" y="1890000"/>
            <a:ext cx="6300000" cy="68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1F2933"/>
                </a:solidFill>
                <a:latin typeface="Calibri"/>
                <a:ea typeface="Calibri"/>
              </a:rPr>
              <a:t>Order handling is manual past 500 units/day; error rate doubled in two quarters.</a:t>
            </a:r>
          </a:p>
        </p:txBody>
      </p:sp>
      <p:sp>
        <p:nvSpPr>
          <p:cNvPr id="100009" name="TextBox 5"/>
          <p:cNvSpPr/>
          <p:nvPr/>
        </p:nvSpPr>
        <p:spPr>
          <a:xfrm xmlns:a="http://schemas.openxmlformats.org/drawingml/2006/main">
            <a:off x="540000" y="2826000"/>
            <a:ext cx="612000" cy="612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300" b="1">
                <a:solidFill>
                  <a:srgbClr val="FFFFFF"/>
                </a:solidFill>
                <a:latin typeface="Calibri"/>
                <a:ea typeface="Calibri"/>
              </a:rPr>
              <a:t>2</a:t>
            </a:r>
          </a:p>
        </p:txBody>
      </p:sp>
      <p:sp>
        <p:nvSpPr>
          <p:cNvPr id="100010" name="TextBox 6"/>
          <p:cNvSpPr/>
          <p:nvPr/>
        </p:nvSpPr>
        <p:spPr>
          <a:xfrm xmlns:a="http://schemas.openxmlformats.org/drawingml/2006/main">
            <a:off x="1332000" y="2844000"/>
            <a:ext cx="6300000" cy="43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2000" b="1">
                <a:solidFill>
                  <a:srgbClr val="1F2933"/>
                </a:solidFill>
                <a:latin typeface="Calibri"/>
                <a:ea typeface="Calibri"/>
              </a:rPr>
              <a:t>Cost of waiting</a:t>
            </a:r>
          </a:p>
        </p:txBody>
      </p:sp>
      <p:sp>
        <p:nvSpPr>
          <p:cNvPr id="100011" name="TextBox 7"/>
          <p:cNvSpPr/>
          <p:nvPr/>
        </p:nvSpPr>
        <p:spPr>
          <a:xfrm xmlns:a="http://schemas.openxmlformats.org/drawingml/2006/main">
            <a:off x="1332000" y="3294000"/>
            <a:ext cx="6300000" cy="68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1F2933"/>
                </a:solidFill>
                <a:latin typeface="Calibri"/>
                <a:ea typeface="Calibri"/>
              </a:rPr>
              <a:t>Each quarter of delay adds rework cost and blocks the Q2 retail integration.</a:t>
            </a:r>
          </a:p>
        </p:txBody>
      </p:sp>
      <p:sp>
        <p:nvSpPr>
          <p:cNvPr id="100012" name="TextBox 8"/>
          <p:cNvSpPr/>
          <p:nvPr/>
        </p:nvSpPr>
        <p:spPr>
          <a:xfrm xmlns:a="http://schemas.openxmlformats.org/drawingml/2006/main">
            <a:off x="540000" y="4230000"/>
            <a:ext cx="612000" cy="612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300" b="1">
                <a:solidFill>
                  <a:srgbClr val="FFFFFF"/>
                </a:solidFill>
                <a:latin typeface="Calibri"/>
                <a:ea typeface="Calibri"/>
              </a:rPr>
              <a:t>3</a:t>
            </a:r>
          </a:p>
        </p:txBody>
      </p:sp>
      <p:sp>
        <p:nvSpPr>
          <p:cNvPr id="100013" name="TextBox 9"/>
          <p:cNvSpPr/>
          <p:nvPr/>
        </p:nvSpPr>
        <p:spPr>
          <a:xfrm xmlns:a="http://schemas.openxmlformats.org/drawingml/2006/main">
            <a:off x="1332000" y="4248000"/>
            <a:ext cx="6300000" cy="43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2000" b="1">
                <a:solidFill>
                  <a:srgbClr val="1F2933"/>
                </a:solidFill>
                <a:latin typeface="Calibri"/>
                <a:ea typeface="Calibri"/>
              </a:rPr>
              <a:t>The opportunity</a:t>
            </a:r>
          </a:p>
        </p:txBody>
      </p:sp>
      <p:sp>
        <p:nvSpPr>
          <p:cNvPr id="100014" name="TextBox 10"/>
          <p:cNvSpPr/>
          <p:nvPr/>
        </p:nvSpPr>
        <p:spPr>
          <a:xfrm xmlns:a="http://schemas.openxmlformats.org/drawingml/2006/main">
            <a:off x="1332000" y="4698000"/>
            <a:ext cx="6300000" cy="68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1F2933"/>
                </a:solidFill>
                <a:latin typeface="Calibri"/>
                <a:ea typeface="Calibri"/>
              </a:rPr>
              <a:t>Automated flow lifts capacity 4x and unblocks two committed customer launches.</a:t>
            </a:r>
          </a:p>
        </p:txBody>
      </p:sp>
      <p:graphicFrame>
        <p:nvGraphicFramePr>
          <p:cNvPr id="100015" name="CostChart"/>
          <p:cNvGraphicFramePr/>
          <p:nvPr/>
        </p:nvGraphicFramePr>
        <p:xfrm>
          <a:off xmlns:a="http://schemas.openxmlformats.org/drawingml/2006/main" x="8100000" y="1368000"/>
          <a:ext xmlns:a="http://schemas.openxmlformats.org/drawingml/2006/main" cx="3553200" cy="4536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0dd79cbbf524502"/>
          </a:graphicData>
        </a:graphic>
      </p:graphicFrame>
    </p:spTree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0016" name="Title"/>
          <p:cNvSpPr/>
          <p:nvPr/>
        </p:nvSpPr>
        <p:spPr>
          <a:xfrm xmlns:a="http://schemas.openxmlformats.org/drawingml/2006/main">
            <a:off x="540000" y="396000"/>
            <a:ext cx="11113200" cy="68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0A4F4E"/>
                </a:solidFill>
                <a:latin typeface="Cambria"/>
                <a:ea typeface="Cambria"/>
              </a:rPr>
              <a:t>Scope &amp; Deliverables</a:t>
            </a:r>
          </a:p>
        </p:txBody>
      </p:sp>
      <p:sp>
        <p:nvSpPr>
          <p:cNvPr id="100017" name="TextBox 2"/>
          <p:cNvSpPr/>
          <p:nvPr/>
        </p:nvSpPr>
        <p:spPr>
          <a:xfrm xmlns:a="http://schemas.openxmlformats.org/drawingml/2006/main">
            <a:off x="540000" y="1368000"/>
            <a:ext cx="5418000" cy="3384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AF4F3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18" name="TextBox 3"/>
          <p:cNvSpPr/>
          <p:nvPr/>
        </p:nvSpPr>
        <p:spPr>
          <a:xfrm xmlns:a="http://schemas.openxmlformats.org/drawingml/2006/main">
            <a:off x="792000" y="1584000"/>
            <a:ext cx="4680000" cy="3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2000" b="1">
                <a:solidFill>
                  <a:srgbClr val="0A4F4E"/>
                </a:solidFill>
                <a:latin typeface="Cambria"/>
                <a:ea typeface="Cambria"/>
              </a:rPr>
              <a:t>In scope</a:t>
            </a:r>
          </a:p>
        </p:txBody>
      </p:sp>
      <p:sp>
        <p:nvSpPr>
          <p:cNvPr id="100019" name="TextBox 4"/>
          <p:cNvSpPr/>
          <p:nvPr/>
        </p:nvSpPr>
        <p:spPr>
          <a:xfrm xmlns:a="http://schemas.openxmlformats.org/drawingml/2006/main">
            <a:off x="792000" y="2052000"/>
            <a:ext cx="4914000" cy="252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1F2933"/>
                </a:solidFill>
                <a:latin typeface="Calibri"/>
                <a:ea typeface="Calibri"/>
              </a:rPr>
              <a:t>Order intake automation</a:t>
            </a:r>
          </a:p>
          <a:p xmlns:a="http://schemas.openxmlformats.org/drawingml/2006/main">
            <a:r>
              <a:rPr lang="en-US" sz="1800">
                <a:solidFill>
                  <a:srgbClr val="1F2933"/>
                </a:solidFill>
                <a:latin typeface="Calibri"/>
                <a:ea typeface="Calibri"/>
              </a:rPr>
              <a:t>Warehouse hand-off API</a:t>
            </a:r>
          </a:p>
          <a:p xmlns:a="http://schemas.openxmlformats.org/drawingml/2006/main">
            <a:r>
              <a:rPr lang="en-US" sz="1800">
                <a:solidFill>
                  <a:srgbClr val="1F2933"/>
                </a:solidFill>
                <a:latin typeface="Calibri"/>
                <a:ea typeface="Calibri"/>
              </a:rPr>
              <a:t>Operator dashboard and alerting</a:t>
            </a:r>
          </a:p>
          <a:p xmlns:a="http://schemas.openxmlformats.org/drawingml/2006/main">
            <a:r>
              <a:rPr lang="en-US" sz="1800">
                <a:solidFill>
                  <a:srgbClr val="1F2933"/>
                </a:solidFill>
                <a:latin typeface="Calibri"/>
                <a:ea typeface="Calibri"/>
              </a:rPr>
              <a:t>Migration of the current queue</a:t>
            </a:r>
          </a:p>
        </p:txBody>
      </p:sp>
      <p:sp>
        <p:nvSpPr>
          <p:cNvPr id="100020" name="TextBox 5"/>
          <p:cNvSpPr/>
          <p:nvPr/>
        </p:nvSpPr>
        <p:spPr>
          <a:xfrm xmlns:a="http://schemas.openxmlformats.org/drawingml/2006/main">
            <a:off x="6231600" y="1368000"/>
            <a:ext cx="5418000" cy="3384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6F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21" name="TextBox 6"/>
          <p:cNvSpPr/>
          <p:nvPr/>
        </p:nvSpPr>
        <p:spPr>
          <a:xfrm xmlns:a="http://schemas.openxmlformats.org/drawingml/2006/main">
            <a:off x="6483600" y="1584000"/>
            <a:ext cx="4680000" cy="3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2000" b="1">
                <a:solidFill>
                  <a:srgbClr val="7B8794"/>
                </a:solidFill>
                <a:latin typeface="Cambria"/>
                <a:ea typeface="Cambria"/>
              </a:rPr>
              <a:t>Out of scope</a:t>
            </a:r>
          </a:p>
        </p:txBody>
      </p:sp>
      <p:sp>
        <p:nvSpPr>
          <p:cNvPr id="100022" name="TextBox 7"/>
          <p:cNvSpPr/>
          <p:nvPr/>
        </p:nvSpPr>
        <p:spPr>
          <a:xfrm xmlns:a="http://schemas.openxmlformats.org/drawingml/2006/main">
            <a:off x="6483600" y="2052000"/>
            <a:ext cx="4914000" cy="252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1F2933"/>
                </a:solidFill>
                <a:latin typeface="Calibri"/>
                <a:ea typeface="Calibri"/>
              </a:rPr>
              <a:t>Retail partner integration (Q2 project)</a:t>
            </a:r>
          </a:p>
          <a:p xmlns:a="http://schemas.openxmlformats.org/drawingml/2006/main">
            <a:r>
              <a:rPr lang="en-US" sz="1800">
                <a:solidFill>
                  <a:srgbClr val="1F2933"/>
                </a:solidFill>
                <a:latin typeface="Calibri"/>
                <a:ea typeface="Calibri"/>
              </a:rPr>
              <a:t>Hardware refresh in the warehouse</a:t>
            </a:r>
          </a:p>
          <a:p xmlns:a="http://schemas.openxmlformats.org/drawingml/2006/main">
            <a:r>
              <a:rPr lang="en-US" sz="1800">
                <a:solidFill>
                  <a:srgbClr val="1F2933"/>
                </a:solidFill>
                <a:latin typeface="Calibri"/>
                <a:ea typeface="Calibri"/>
              </a:rPr>
              <a:t>Billing system changes</a:t>
            </a:r>
          </a:p>
        </p:txBody>
      </p:sp>
      <p:sp>
        <p:nvSpPr>
          <p:cNvPr id="100023" name="TextBox 8"/>
          <p:cNvSpPr/>
          <p:nvPr/>
        </p:nvSpPr>
        <p:spPr>
          <a:xfrm xmlns:a="http://schemas.openxmlformats.org/drawingml/2006/main">
            <a:off x="540000" y="5040000"/>
            <a:ext cx="111132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1F2933"/>
                </a:solidFill>
                <a:latin typeface="Calibri"/>
                <a:ea typeface="Calibri"/>
              </a:rPr>
              <a:t>Every deliverable ships with an acceptance criterion agreed by the sponsor before build starts.</a:t>
            </a:r>
          </a:p>
        </p:txBody>
      </p:sp>
    </p:spTree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0024" name="Title"/>
          <p:cNvSpPr/>
          <p:nvPr/>
        </p:nvSpPr>
        <p:spPr>
          <a:xfrm xmlns:a="http://schemas.openxmlformats.org/drawingml/2006/main">
            <a:off x="540000" y="396000"/>
            <a:ext cx="11113200" cy="68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0A4F4E"/>
                </a:solidFill>
                <a:latin typeface="Cambria"/>
                <a:ea typeface="Cambria"/>
              </a:rPr>
              <a:t>Team &amp; Responsibilities</a:t>
            </a:r>
          </a:p>
        </p:txBody>
      </p:sp>
      <p:sp>
        <p:nvSpPr>
          <p:cNvPr id="100025" name="TextBox 2"/>
          <p:cNvSpPr/>
          <p:nvPr/>
        </p:nvSpPr>
        <p:spPr>
          <a:xfrm xmlns:a="http://schemas.openxmlformats.org/drawingml/2006/main">
            <a:off x="540000" y="1350000"/>
            <a:ext cx="612000" cy="612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300" b="1">
                <a:solidFill>
                  <a:srgbClr val="FFFFFF"/>
                </a:solidFill>
                <a:latin typeface="Calibri"/>
                <a:ea typeface="Calibri"/>
              </a:rPr>
              <a:t>PM</a:t>
            </a:r>
          </a:p>
        </p:txBody>
      </p:sp>
      <p:sp>
        <p:nvSpPr>
          <p:cNvPr id="100026" name="TextBox 3"/>
          <p:cNvSpPr/>
          <p:nvPr/>
        </p:nvSpPr>
        <p:spPr>
          <a:xfrm xmlns:a="http://schemas.openxmlformats.org/drawingml/2006/main">
            <a:off x="1332000" y="1368000"/>
            <a:ext cx="5940000" cy="43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2000" b="1">
                <a:solidFill>
                  <a:srgbClr val="1F2933"/>
                </a:solidFill>
                <a:latin typeface="Calibri"/>
                <a:ea typeface="Calibri"/>
              </a:rPr>
              <a:t>M. Tran — Project manager</a:t>
            </a:r>
          </a:p>
        </p:txBody>
      </p:sp>
      <p:sp>
        <p:nvSpPr>
          <p:cNvPr id="100027" name="TextBox 4"/>
          <p:cNvSpPr/>
          <p:nvPr/>
        </p:nvSpPr>
        <p:spPr>
          <a:xfrm xmlns:a="http://schemas.openxmlformats.org/drawingml/2006/main">
            <a:off x="1332000" y="1818000"/>
            <a:ext cx="5940000" cy="68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1F2933"/>
                </a:solidFill>
                <a:latin typeface="Calibri"/>
                <a:ea typeface="Calibri"/>
              </a:rPr>
              <a:t>Plan, risks, weekly status. Tie-break on schedule questions.</a:t>
            </a:r>
          </a:p>
        </p:txBody>
      </p:sp>
      <p:sp>
        <p:nvSpPr>
          <p:cNvPr id="100028" name="TextBox 5"/>
          <p:cNvSpPr/>
          <p:nvPr/>
        </p:nvSpPr>
        <p:spPr>
          <a:xfrm xmlns:a="http://schemas.openxmlformats.org/drawingml/2006/main">
            <a:off x="540000" y="2538000"/>
            <a:ext cx="612000" cy="612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300" b="1">
                <a:solidFill>
                  <a:srgbClr val="FFFFFF"/>
                </a:solidFill>
                <a:latin typeface="Calibri"/>
                <a:ea typeface="Calibri"/>
              </a:rPr>
              <a:t>EN</a:t>
            </a:r>
          </a:p>
        </p:txBody>
      </p:sp>
      <p:sp>
        <p:nvSpPr>
          <p:cNvPr id="100029" name="TextBox 6"/>
          <p:cNvSpPr/>
          <p:nvPr/>
        </p:nvSpPr>
        <p:spPr>
          <a:xfrm xmlns:a="http://schemas.openxmlformats.org/drawingml/2006/main">
            <a:off x="1332000" y="2556000"/>
            <a:ext cx="5940000" cy="43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2000" b="1">
                <a:solidFill>
                  <a:srgbClr val="1F2933"/>
                </a:solidFill>
                <a:latin typeface="Calibri"/>
                <a:ea typeface="Calibri"/>
              </a:rPr>
              <a:t>K. Ibarra — Engineering lead</a:t>
            </a:r>
          </a:p>
        </p:txBody>
      </p:sp>
      <p:sp>
        <p:nvSpPr>
          <p:cNvPr id="100030" name="TextBox 7"/>
          <p:cNvSpPr/>
          <p:nvPr/>
        </p:nvSpPr>
        <p:spPr>
          <a:xfrm xmlns:a="http://schemas.openxmlformats.org/drawingml/2006/main">
            <a:off x="1332000" y="3006000"/>
            <a:ext cx="5940000" cy="68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1F2933"/>
                </a:solidFill>
                <a:latin typeface="Calibri"/>
                <a:ea typeface="Calibri"/>
              </a:rPr>
              <a:t>Architecture and delivery. Tie-break on technical questions.</a:t>
            </a:r>
          </a:p>
        </p:txBody>
      </p:sp>
      <p:sp>
        <p:nvSpPr>
          <p:cNvPr id="100031" name="TextBox 8"/>
          <p:cNvSpPr/>
          <p:nvPr/>
        </p:nvSpPr>
        <p:spPr>
          <a:xfrm xmlns:a="http://schemas.openxmlformats.org/drawingml/2006/main">
            <a:off x="540000" y="3726000"/>
            <a:ext cx="612000" cy="612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300" b="1">
                <a:solidFill>
                  <a:srgbClr val="FFFFFF"/>
                </a:solidFill>
                <a:latin typeface="Calibri"/>
                <a:ea typeface="Calibri"/>
              </a:rPr>
              <a:t>OP</a:t>
            </a:r>
          </a:p>
        </p:txBody>
      </p:sp>
      <p:sp>
        <p:nvSpPr>
          <p:cNvPr id="100032" name="TextBox 9"/>
          <p:cNvSpPr/>
          <p:nvPr/>
        </p:nvSpPr>
        <p:spPr>
          <a:xfrm xmlns:a="http://schemas.openxmlformats.org/drawingml/2006/main">
            <a:off x="1332000" y="3744000"/>
            <a:ext cx="5940000" cy="43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2000" b="1">
                <a:solidFill>
                  <a:srgbClr val="1F2933"/>
                </a:solidFill>
                <a:latin typeface="Calibri"/>
                <a:ea typeface="Calibri"/>
              </a:rPr>
              <a:t>S. Novak — Operations lead</a:t>
            </a:r>
          </a:p>
        </p:txBody>
      </p:sp>
      <p:sp>
        <p:nvSpPr>
          <p:cNvPr id="100033" name="TextBox 10"/>
          <p:cNvSpPr/>
          <p:nvPr/>
        </p:nvSpPr>
        <p:spPr>
          <a:xfrm xmlns:a="http://schemas.openxmlformats.org/drawingml/2006/main">
            <a:off x="1332000" y="4194000"/>
            <a:ext cx="5940000" cy="68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1F2933"/>
                </a:solidFill>
                <a:latin typeface="Calibri"/>
                <a:ea typeface="Calibri"/>
              </a:rPr>
              <a:t>Process design, operator training, cut-over runbook.</a:t>
            </a:r>
          </a:p>
        </p:txBody>
      </p:sp>
      <p:sp>
        <p:nvSpPr>
          <p:cNvPr id="100034" name="TextBox 11"/>
          <p:cNvSpPr/>
          <p:nvPr/>
        </p:nvSpPr>
        <p:spPr>
          <a:xfrm xmlns:a="http://schemas.openxmlformats.org/drawingml/2006/main">
            <a:off x="540000" y="4914000"/>
            <a:ext cx="612000" cy="612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300" b="1">
                <a:solidFill>
                  <a:srgbClr val="FFFFFF"/>
                </a:solidFill>
                <a:latin typeface="Calibri"/>
                <a:ea typeface="Calibri"/>
              </a:rPr>
              <a:t>QA</a:t>
            </a:r>
          </a:p>
        </p:txBody>
      </p:sp>
      <p:sp>
        <p:nvSpPr>
          <p:cNvPr id="100035" name="TextBox 12"/>
          <p:cNvSpPr/>
          <p:nvPr/>
        </p:nvSpPr>
        <p:spPr>
          <a:xfrm xmlns:a="http://schemas.openxmlformats.org/drawingml/2006/main">
            <a:off x="1332000" y="4932000"/>
            <a:ext cx="5940000" cy="43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2000" b="1">
                <a:solidFill>
                  <a:srgbClr val="1F2933"/>
                </a:solidFill>
                <a:latin typeface="Calibri"/>
                <a:ea typeface="Calibri"/>
              </a:rPr>
              <a:t>L. Devi — Quality lead</a:t>
            </a:r>
          </a:p>
        </p:txBody>
      </p:sp>
      <p:sp>
        <p:nvSpPr>
          <p:cNvPr id="100036" name="TextBox 13"/>
          <p:cNvSpPr/>
          <p:nvPr/>
        </p:nvSpPr>
        <p:spPr>
          <a:xfrm xmlns:a="http://schemas.openxmlformats.org/drawingml/2006/main">
            <a:off x="1332000" y="5382000"/>
            <a:ext cx="5940000" cy="68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1F2933"/>
                </a:solidFill>
                <a:latin typeface="Calibri"/>
                <a:ea typeface="Calibri"/>
              </a:rPr>
              <a:t>Acceptance tests against the agreed criteria; go/no-go input.</a:t>
            </a:r>
          </a:p>
        </p:txBody>
      </p:sp>
      <p:sp>
        <p:nvSpPr>
          <p:cNvPr id="100037" name="DecisionCard"/>
          <p:cNvSpPr/>
          <p:nvPr/>
        </p:nvSpPr>
        <p:spPr>
          <a:xfrm xmlns:a="http://schemas.openxmlformats.org/drawingml/2006/main">
            <a:off x="8100000" y="1368000"/>
            <a:ext cx="3553200" cy="4536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AF4F3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38" name="TextBox 15"/>
          <p:cNvSpPr/>
          <p:nvPr/>
        </p:nvSpPr>
        <p:spPr>
          <a:xfrm xmlns:a="http://schemas.openxmlformats.org/drawingml/2006/main">
            <a:off x="8352000" y="1620000"/>
            <a:ext cx="3060000" cy="3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2000" b="1">
                <a:solidFill>
                  <a:srgbClr val="0A4F4E"/>
                </a:solidFill>
                <a:latin typeface="Cambria"/>
                <a:ea typeface="Cambria"/>
              </a:rPr>
              <a:t>Decision rights</a:t>
            </a:r>
          </a:p>
        </p:txBody>
      </p:sp>
      <p:sp>
        <p:nvSpPr>
          <p:cNvPr id="100039" name="TextBox 16"/>
          <p:cNvSpPr/>
          <p:nvPr/>
        </p:nvSpPr>
        <p:spPr>
          <a:xfrm xmlns:a="http://schemas.openxmlformats.org/drawingml/2006/main">
            <a:off x="8352000" y="2124000"/>
            <a:ext cx="3060000" cy="345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1F2933"/>
                </a:solidFill>
                <a:latin typeface="Calibri"/>
                <a:ea typeface="Calibri"/>
              </a:rPr>
              <a:t>Scope changes: sponsor</a:t>
            </a:r>
          </a:p>
          <a:p xmlns:a="http://schemas.openxmlformats.org/drawingml/2006/main">
            <a:r>
              <a:rPr lang="en-US" sz="1800">
                <a:solidFill>
                  <a:srgbClr val="1F2933"/>
                </a:solidFill>
                <a:latin typeface="Calibri"/>
                <a:ea typeface="Calibri"/>
              </a:rPr>
              <a:t>Schedule inside the quarter: PM</a:t>
            </a:r>
          </a:p>
          <a:p xmlns:a="http://schemas.openxmlformats.org/drawingml/2006/main">
            <a:r>
              <a:rPr lang="en-US" sz="1800">
                <a:solidFill>
                  <a:srgbClr val="1F2933"/>
                </a:solidFill>
                <a:latin typeface="Calibri"/>
                <a:ea typeface="Calibri"/>
              </a:rPr>
              <a:t>Technical approach: engineering lead</a:t>
            </a:r>
          </a:p>
          <a:p xmlns:a="http://schemas.openxmlformats.org/drawingml/2006/main">
            <a:r>
              <a:rPr lang="en-US" sz="1800">
                <a:solidFill>
                  <a:srgbClr val="1F2933"/>
                </a:solidFill>
                <a:latin typeface="Calibri"/>
                <a:ea typeface="Calibri"/>
              </a:rPr>
              <a:t>Go/no-go at cut-over: sponsor + QA</a:t>
            </a:r>
          </a:p>
        </p:txBody>
      </p:sp>
    </p:spTree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0040" name="Title"/>
          <p:cNvSpPr/>
          <p:nvPr/>
        </p:nvSpPr>
        <p:spPr>
          <a:xfrm xmlns:a="http://schemas.openxmlformats.org/drawingml/2006/main">
            <a:off x="540000" y="396000"/>
            <a:ext cx="11113200" cy="68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0A4F4E"/>
                </a:solidFill>
                <a:latin typeface="Cambria"/>
                <a:ea typeface="Cambria"/>
              </a:rPr>
              <a:t>Timeline &amp; Milestones</a:t>
            </a:r>
          </a:p>
        </p:txBody>
      </p:sp>
      <p:sp>
        <p:nvSpPr>
          <p:cNvPr id="100041" name="Phase1"/>
          <p:cNvSpPr/>
          <p:nvPr/>
        </p:nvSpPr>
        <p:spPr>
          <a:xfrm xmlns:a="http://schemas.openxmlformats.org/drawingml/2006/main">
            <a:off x="540000" y="2376000"/>
            <a:ext cx="2574000" cy="1152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2000" b="1">
                <a:solidFill>
                  <a:srgbClr val="FFFFFF"/>
                </a:solidFill>
                <a:latin typeface="Calibri"/>
                <a:ea typeface="Calibri"/>
              </a:rPr>
              <a:t>Discover</a:t>
            </a:r>
          </a:p>
        </p:txBody>
      </p:sp>
      <p:sp>
        <p:nvSpPr>
          <p:cNvPr id="100042" name="TextBox 3"/>
          <p:cNvSpPr/>
          <p:nvPr/>
        </p:nvSpPr>
        <p:spPr>
          <a:xfrm xmlns:a="http://schemas.openxmlformats.org/drawingml/2006/main">
            <a:off x="540000" y="3636000"/>
            <a:ext cx="2574000" cy="3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/>
            <a:r>
              <a:rPr lang="en-US" sz="1300">
                <a:solidFill>
                  <a:srgbClr val="7B8794"/>
                </a:solidFill>
                <a:latin typeface="Consolas"/>
                <a:ea typeface="Consolas"/>
              </a:rPr>
              <a:t>NOV 3 - NOV 14</a:t>
            </a:r>
          </a:p>
        </p:txBody>
      </p:sp>
      <p:sp>
        <p:nvSpPr>
          <p:cNvPr id="100043" name="Phase2"/>
          <p:cNvSpPr/>
          <p:nvPr/>
        </p:nvSpPr>
        <p:spPr>
          <a:xfrm xmlns:a="http://schemas.openxmlformats.org/drawingml/2006/main">
            <a:off x="3387600" y="2376000"/>
            <a:ext cx="2574000" cy="1152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AF4F3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2000" b="1">
                <a:solidFill>
                  <a:srgbClr val="0A4F4E"/>
                </a:solidFill>
                <a:latin typeface="Calibri"/>
                <a:ea typeface="Calibri"/>
              </a:rPr>
              <a:t>Build</a:t>
            </a:r>
          </a:p>
        </p:txBody>
      </p:sp>
      <p:sp>
        <p:nvSpPr>
          <p:cNvPr id="100044" name="TextBox 5"/>
          <p:cNvSpPr/>
          <p:nvPr/>
        </p:nvSpPr>
        <p:spPr>
          <a:xfrm xmlns:a="http://schemas.openxmlformats.org/drawingml/2006/main">
            <a:off x="3387600" y="3636000"/>
            <a:ext cx="2574000" cy="3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/>
            <a:r>
              <a:rPr lang="en-US" sz="1300">
                <a:solidFill>
                  <a:srgbClr val="7B8794"/>
                </a:solidFill>
                <a:latin typeface="Consolas"/>
                <a:ea typeface="Consolas"/>
              </a:rPr>
              <a:t>NOV 17 - JAN 9</a:t>
            </a:r>
          </a:p>
        </p:txBody>
      </p:sp>
      <p:sp>
        <p:nvSpPr>
          <p:cNvPr id="100045" name="Phase3"/>
          <p:cNvSpPr/>
          <p:nvPr/>
        </p:nvSpPr>
        <p:spPr>
          <a:xfrm xmlns:a="http://schemas.openxmlformats.org/drawingml/2006/main">
            <a:off x="6235200" y="2376000"/>
            <a:ext cx="2574000" cy="1152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2000" b="1">
                <a:solidFill>
                  <a:srgbClr val="FFFFFF"/>
                </a:solidFill>
                <a:latin typeface="Calibri"/>
                <a:ea typeface="Calibri"/>
              </a:rPr>
              <a:t>Pilot</a:t>
            </a:r>
          </a:p>
        </p:txBody>
      </p:sp>
      <p:sp>
        <p:nvSpPr>
          <p:cNvPr id="100046" name="TextBox 7"/>
          <p:cNvSpPr/>
          <p:nvPr/>
        </p:nvSpPr>
        <p:spPr>
          <a:xfrm xmlns:a="http://schemas.openxmlformats.org/drawingml/2006/main">
            <a:off x="6235200" y="3636000"/>
            <a:ext cx="2574000" cy="3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/>
            <a:r>
              <a:rPr lang="en-US" sz="1300">
                <a:solidFill>
                  <a:srgbClr val="7B8794"/>
                </a:solidFill>
                <a:latin typeface="Consolas"/>
                <a:ea typeface="Consolas"/>
              </a:rPr>
              <a:t>JAN 12 - JAN 30</a:t>
            </a:r>
          </a:p>
        </p:txBody>
      </p:sp>
      <p:sp>
        <p:nvSpPr>
          <p:cNvPr id="100047" name="Phase4"/>
          <p:cNvSpPr/>
          <p:nvPr/>
        </p:nvSpPr>
        <p:spPr>
          <a:xfrm xmlns:a="http://schemas.openxmlformats.org/drawingml/2006/main">
            <a:off x="9082800" y="2376000"/>
            <a:ext cx="2574000" cy="1152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AF4F3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2000" b="1">
                <a:solidFill>
                  <a:srgbClr val="0A4F4E"/>
                </a:solidFill>
                <a:latin typeface="Calibri"/>
                <a:ea typeface="Calibri"/>
              </a:rPr>
              <a:t>Roll out</a:t>
            </a:r>
          </a:p>
        </p:txBody>
      </p:sp>
      <p:sp>
        <p:nvSpPr>
          <p:cNvPr id="100048" name="TextBox 9"/>
          <p:cNvSpPr/>
          <p:nvPr/>
        </p:nvSpPr>
        <p:spPr>
          <a:xfrm xmlns:a="http://schemas.openxmlformats.org/drawingml/2006/main">
            <a:off x="9082800" y="3636000"/>
            <a:ext cx="2574000" cy="3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/>
            <a:r>
              <a:rPr lang="en-US" sz="1300">
                <a:solidFill>
                  <a:srgbClr val="7B8794"/>
                </a:solidFill>
                <a:latin typeface="Consolas"/>
                <a:ea typeface="Consolas"/>
              </a:rPr>
              <a:t>FEB 2 - FEB 20</a:t>
            </a:r>
          </a:p>
        </p:txBody>
      </p:sp>
      <p:sp>
        <p:nvSpPr>
          <p:cNvPr id="100049" name="TextBox 10"/>
          <p:cNvSpPr/>
          <p:nvPr/>
        </p:nvSpPr>
        <p:spPr>
          <a:xfrm xmlns:a="http://schemas.openxmlformats.org/drawingml/2006/main">
            <a:off x="540000" y="4536000"/>
            <a:ext cx="11113200" cy="43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1F2933"/>
                </a:solidFill>
                <a:latin typeface="Calibri"/>
                <a:ea typeface="Calibri"/>
              </a:rPr>
              <a:t>One milestone per phase — each is a demo, not a document:</a:t>
            </a:r>
          </a:p>
        </p:txBody>
      </p:sp>
      <p:sp>
        <p:nvSpPr>
          <p:cNvPr id="100050" name="TextBox 11"/>
          <p:cNvSpPr/>
          <p:nvPr/>
        </p:nvSpPr>
        <p:spPr>
          <a:xfrm xmlns:a="http://schemas.openxmlformats.org/drawingml/2006/main">
            <a:off x="540000" y="5004000"/>
            <a:ext cx="11113200" cy="12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1F2933"/>
                </a:solidFill>
                <a:latin typeface="Calibri"/>
                <a:ea typeface="Calibri"/>
              </a:rPr>
              <a:t>Signed process map (Nov 14) · First automated order end-to-end (Jan 9) · Pilot at 20% volume (Jan 30) · Full cut-over (Feb 20)</a:t>
            </a:r>
          </a:p>
        </p:txBody>
      </p:sp>
      <p:cxnSp>
        <p:nvCxnSpPr>
          <p:cNvPr id="100051" name="Connector 1"/>
          <p:cNvCxnSpPr>
            <a:stCxn xmlns:a="http://schemas.openxmlformats.org/drawingml/2006/main" id="100041" idx="0"/>
            <a:endCxn xmlns:a="http://schemas.openxmlformats.org/drawingml/2006/main" id="100043" idx="0"/>
          </p:cNvCxnSpPr>
          <p:nvPr/>
        </p:nvCxnSpPr>
        <p:spPr>
          <a:xfrm xmlns:a="http://schemas.openxmlformats.org/drawingml/2006/main">
            <a:off x="3114000" y="2952000"/>
            <a:ext cx="273600" cy="0"/>
          </a:xfrm>
          <a:prstGeom xmlns:a="http://schemas.openxmlformats.org/drawingml/2006/main" prst="bentConnector3">
            <a:avLst/>
          </a:prstGeom>
          <a:ln xmlns:a="http://schemas.openxmlformats.org/drawingml/2006/main" w="12700">
            <a:solidFill>
              <a:srgbClr val="7B8794"/>
            </a:solidFill>
            <a:tailEnd type="triangle"/>
          </a:ln>
        </p:spPr>
      </p:cxnSp>
      <p:cxnSp>
        <p:nvCxnSpPr>
          <p:cNvPr id="100052" name="Connector 2"/>
          <p:cNvCxnSpPr>
            <a:stCxn xmlns:a="http://schemas.openxmlformats.org/drawingml/2006/main" id="100043" idx="0"/>
            <a:endCxn xmlns:a="http://schemas.openxmlformats.org/drawingml/2006/main" id="100045" idx="0"/>
          </p:cNvCxnSpPr>
          <p:nvPr/>
        </p:nvCxnSpPr>
        <p:spPr>
          <a:xfrm xmlns:a="http://schemas.openxmlformats.org/drawingml/2006/main">
            <a:off x="5961600" y="2952000"/>
            <a:ext cx="273600" cy="0"/>
          </a:xfrm>
          <a:prstGeom xmlns:a="http://schemas.openxmlformats.org/drawingml/2006/main" prst="bentConnector3">
            <a:avLst/>
          </a:prstGeom>
          <a:ln xmlns:a="http://schemas.openxmlformats.org/drawingml/2006/main" w="12700">
            <a:solidFill>
              <a:srgbClr val="7B8794"/>
            </a:solidFill>
            <a:tailEnd type="triangle"/>
          </a:ln>
        </p:spPr>
      </p:cxnSp>
      <p:cxnSp>
        <p:nvCxnSpPr>
          <p:cNvPr id="100053" name="Connector 3"/>
          <p:cNvCxnSpPr>
            <a:stCxn xmlns:a="http://schemas.openxmlformats.org/drawingml/2006/main" id="100045" idx="0"/>
            <a:endCxn xmlns:a="http://schemas.openxmlformats.org/drawingml/2006/main" id="100047" idx="0"/>
          </p:cNvCxnSpPr>
          <p:nvPr/>
        </p:nvCxnSpPr>
        <p:spPr>
          <a:xfrm xmlns:a="http://schemas.openxmlformats.org/drawingml/2006/main">
            <a:off x="8809200" y="2952000"/>
            <a:ext cx="273600" cy="0"/>
          </a:xfrm>
          <a:prstGeom xmlns:a="http://schemas.openxmlformats.org/drawingml/2006/main" prst="bentConnector3">
            <a:avLst/>
          </a:prstGeom>
          <a:ln xmlns:a="http://schemas.openxmlformats.org/drawingml/2006/main" w="12700">
            <a:solidFill>
              <a:srgbClr val="7B8794"/>
            </a:solidFill>
            <a:tailEnd type="triangle"/>
          </a:ln>
        </p:spPr>
      </p:cxnSp>
    </p:spTree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A4F4E"/>
        </a:solidFill>
      </p:bgPr>
    </p:bg>
    <p:spTree>
      <p:nvGrpSpPr>
        <p:cNvPr id="1" name=""/>
        <p:cNvGrpSpPr/>
        <p:nvPr/>
      </p:nvGrpSpPr>
      <p:grpSpPr/>
      <p:sp>
        <p:nvSpPr>
          <p:cNvPr id="100054" name="TextBox 1"/>
          <p:cNvSpPr/>
          <p:nvPr/>
        </p:nvSpPr>
        <p:spPr>
          <a:xfrm xmlns:a="http://schemas.openxmlformats.org/drawingml/2006/main">
            <a:off x="7200000" y="1656000"/>
            <a:ext cx="4680000" cy="3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/>
            <a:r>
              <a:rPr lang="en-US" sz="22000" b="1">
                <a:solidFill>
                  <a:srgbClr val="0E7C7B"/>
                </a:solidFill>
                <a:latin typeface="Cambria"/>
                <a:ea typeface="Cambria"/>
              </a:rPr>
              <a:t>02</a:t>
            </a:r>
          </a:p>
        </p:txBody>
      </p:sp>
      <p:sp>
        <p:nvSpPr>
          <p:cNvPr id="100055" name="TextBox 2"/>
          <p:cNvSpPr/>
          <p:nvPr/>
        </p:nvSpPr>
        <p:spPr>
          <a:xfrm xmlns:a="http://schemas.openxmlformats.org/drawingml/2006/main">
            <a:off x="900000" y="2664000"/>
            <a:ext cx="6480000" cy="3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B9D6D4"/>
                </a:solidFill>
                <a:latin typeface="Consolas"/>
                <a:ea typeface="Consolas"/>
              </a:rPr>
              <a:t>SECTION 02</a:t>
            </a:r>
          </a:p>
        </p:txBody>
      </p:sp>
      <p:sp>
        <p:nvSpPr>
          <p:cNvPr id="100056" name="Title"/>
          <p:cNvSpPr/>
          <p:nvPr/>
        </p:nvSpPr>
        <p:spPr>
          <a:xfrm xmlns:a="http://schemas.openxmlformats.org/drawingml/2006/main">
            <a:off x="900000" y="3060000"/>
            <a:ext cx="7920000" cy="86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4000" b="1">
                <a:solidFill>
                  <a:srgbClr val="FFFFFF"/>
                </a:solidFill>
                <a:latin typeface="Cambria"/>
                <a:ea typeface="Cambria"/>
              </a:rPr>
              <a:t>Execution &amp; Governance</a:t>
            </a:r>
          </a:p>
        </p:txBody>
      </p:sp>
    </p:spTree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0057" name="Title"/>
          <p:cNvSpPr/>
          <p:nvPr/>
        </p:nvSpPr>
        <p:spPr>
          <a:xfrm xmlns:a="http://schemas.openxmlformats.org/drawingml/2006/main">
            <a:off x="540000" y="396000"/>
            <a:ext cx="11113200" cy="68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0A4F4E"/>
                </a:solidFill>
                <a:latin typeface="Cambria"/>
                <a:ea typeface="Cambria"/>
              </a:rPr>
              <a:t>Risks &amp; Mitigations</a:t>
            </a:r>
          </a:p>
        </p:txBody>
      </p:sp>
      <p:sp>
        <p:nvSpPr>
          <p:cNvPr id="100058" name="TextBox 2"/>
          <p:cNvSpPr/>
          <p:nvPr/>
        </p:nvSpPr>
        <p:spPr>
          <a:xfrm xmlns:a="http://schemas.openxmlformats.org/drawingml/2006/main">
            <a:off x="540000" y="1368000"/>
            <a:ext cx="5418000" cy="198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6F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59" name="TextBox 3"/>
          <p:cNvSpPr/>
          <p:nvPr/>
        </p:nvSpPr>
        <p:spPr>
          <a:xfrm xmlns:a="http://schemas.openxmlformats.org/drawingml/2006/main">
            <a:off x="792000" y="1584000"/>
            <a:ext cx="3906000" cy="3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2000" b="1">
                <a:solidFill>
                  <a:srgbClr val="0A4F4E"/>
                </a:solidFill>
                <a:latin typeface="Calibri"/>
                <a:ea typeface="Calibri"/>
              </a:rPr>
              <a:t>Legacy queue data quality</a:t>
            </a:r>
          </a:p>
        </p:txBody>
      </p:sp>
      <p:sp>
        <p:nvSpPr>
          <p:cNvPr id="100060" name="TextBox 4"/>
          <p:cNvSpPr/>
          <p:nvPr/>
        </p:nvSpPr>
        <p:spPr>
          <a:xfrm xmlns:a="http://schemas.openxmlformats.org/drawingml/2006/main">
            <a:off x="4734000" y="1620000"/>
            <a:ext cx="972000" cy="28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/>
            <a:r>
              <a:rPr lang="en-US" sz="1200" b="1">
                <a:solidFill>
                  <a:srgbClr val="0E7C7B"/>
                </a:solidFill>
                <a:latin typeface="Consolas"/>
                <a:ea typeface="Consolas"/>
              </a:rPr>
              <a:t>HIGH</a:t>
            </a:r>
          </a:p>
        </p:txBody>
      </p:sp>
      <p:sp>
        <p:nvSpPr>
          <p:cNvPr id="100061" name="TextBox 5"/>
          <p:cNvSpPr/>
          <p:nvPr/>
        </p:nvSpPr>
        <p:spPr>
          <a:xfrm xmlns:a="http://schemas.openxmlformats.org/drawingml/2006/main">
            <a:off x="792000" y="2088000"/>
            <a:ext cx="4914000" cy="111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1F2933"/>
                </a:solidFill>
                <a:latin typeface="Calibri"/>
                <a:ea typeface="Calibri"/>
              </a:rPr>
              <a:t>Sample 1,000 records in week one; budget a cleanup sprint before migration.</a:t>
            </a:r>
          </a:p>
        </p:txBody>
      </p:sp>
      <p:sp>
        <p:nvSpPr>
          <p:cNvPr id="100062" name="TextBox 6"/>
          <p:cNvSpPr/>
          <p:nvPr/>
        </p:nvSpPr>
        <p:spPr>
          <a:xfrm xmlns:a="http://schemas.openxmlformats.org/drawingml/2006/main">
            <a:off x="6231600" y="1368000"/>
            <a:ext cx="5418000" cy="198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6F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63" name="TextBox 7"/>
          <p:cNvSpPr/>
          <p:nvPr/>
        </p:nvSpPr>
        <p:spPr>
          <a:xfrm xmlns:a="http://schemas.openxmlformats.org/drawingml/2006/main">
            <a:off x="6483600" y="1584000"/>
            <a:ext cx="3906000" cy="3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2000" b="1">
                <a:solidFill>
                  <a:srgbClr val="0A4F4E"/>
                </a:solidFill>
                <a:latin typeface="Calibri"/>
                <a:ea typeface="Calibri"/>
              </a:rPr>
              <a:t>Operator adoption</a:t>
            </a:r>
          </a:p>
        </p:txBody>
      </p:sp>
      <p:sp>
        <p:nvSpPr>
          <p:cNvPr id="100064" name="TextBox 8"/>
          <p:cNvSpPr/>
          <p:nvPr/>
        </p:nvSpPr>
        <p:spPr>
          <a:xfrm xmlns:a="http://schemas.openxmlformats.org/drawingml/2006/main">
            <a:off x="10425600" y="1620000"/>
            <a:ext cx="972000" cy="28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/>
            <a:r>
              <a:rPr lang="en-US" sz="1200" b="1">
                <a:solidFill>
                  <a:srgbClr val="0E7C7B"/>
                </a:solidFill>
                <a:latin typeface="Consolas"/>
                <a:ea typeface="Consolas"/>
              </a:rPr>
              <a:t>MED</a:t>
            </a:r>
          </a:p>
        </p:txBody>
      </p:sp>
      <p:sp>
        <p:nvSpPr>
          <p:cNvPr id="100065" name="TextBox 9"/>
          <p:cNvSpPr/>
          <p:nvPr/>
        </p:nvSpPr>
        <p:spPr>
          <a:xfrm xmlns:a="http://schemas.openxmlformats.org/drawingml/2006/main">
            <a:off x="6483600" y="2088000"/>
            <a:ext cx="4914000" cy="111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1F2933"/>
                </a:solidFill>
                <a:latin typeface="Calibri"/>
                <a:ea typeface="Calibri"/>
              </a:rPr>
              <a:t>Two operators embedded in the pilot; training runbook owned by Operations.</a:t>
            </a:r>
          </a:p>
        </p:txBody>
      </p:sp>
      <p:sp>
        <p:nvSpPr>
          <p:cNvPr id="100066" name="TextBox 10"/>
          <p:cNvSpPr/>
          <p:nvPr/>
        </p:nvSpPr>
        <p:spPr>
          <a:xfrm xmlns:a="http://schemas.openxmlformats.org/drawingml/2006/main">
            <a:off x="540000" y="3564000"/>
            <a:ext cx="5418000" cy="198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6F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67" name="TextBox 11"/>
          <p:cNvSpPr/>
          <p:nvPr/>
        </p:nvSpPr>
        <p:spPr>
          <a:xfrm xmlns:a="http://schemas.openxmlformats.org/drawingml/2006/main">
            <a:off x="792000" y="3780000"/>
            <a:ext cx="3906000" cy="3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2000" b="1">
                <a:solidFill>
                  <a:srgbClr val="0A4F4E"/>
                </a:solidFill>
                <a:latin typeface="Calibri"/>
                <a:ea typeface="Calibri"/>
              </a:rPr>
              <a:t>Warehouse API stability</a:t>
            </a:r>
          </a:p>
        </p:txBody>
      </p:sp>
      <p:sp>
        <p:nvSpPr>
          <p:cNvPr id="100068" name="TextBox 12"/>
          <p:cNvSpPr/>
          <p:nvPr/>
        </p:nvSpPr>
        <p:spPr>
          <a:xfrm xmlns:a="http://schemas.openxmlformats.org/drawingml/2006/main">
            <a:off x="4734000" y="3816000"/>
            <a:ext cx="972000" cy="28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/>
            <a:r>
              <a:rPr lang="en-US" sz="1200" b="1">
                <a:solidFill>
                  <a:srgbClr val="0E7C7B"/>
                </a:solidFill>
                <a:latin typeface="Consolas"/>
                <a:ea typeface="Consolas"/>
              </a:rPr>
              <a:t>MED</a:t>
            </a:r>
          </a:p>
        </p:txBody>
      </p:sp>
      <p:sp>
        <p:nvSpPr>
          <p:cNvPr id="100069" name="TextBox 13"/>
          <p:cNvSpPr/>
          <p:nvPr/>
        </p:nvSpPr>
        <p:spPr>
          <a:xfrm xmlns:a="http://schemas.openxmlformats.org/drawingml/2006/main">
            <a:off x="792000" y="4284000"/>
            <a:ext cx="4914000" cy="111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1F2933"/>
                </a:solidFill>
                <a:latin typeface="Calibri"/>
                <a:ea typeface="Calibri"/>
              </a:rPr>
              <a:t>Contract test suite against the staging API from week two.</a:t>
            </a:r>
          </a:p>
        </p:txBody>
      </p:sp>
      <p:sp>
        <p:nvSpPr>
          <p:cNvPr id="100070" name="TextBox 14"/>
          <p:cNvSpPr/>
          <p:nvPr/>
        </p:nvSpPr>
        <p:spPr>
          <a:xfrm xmlns:a="http://schemas.openxmlformats.org/drawingml/2006/main">
            <a:off x="6231600" y="3564000"/>
            <a:ext cx="5418000" cy="198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6F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71" name="TextBox 15"/>
          <p:cNvSpPr/>
          <p:nvPr/>
        </p:nvSpPr>
        <p:spPr>
          <a:xfrm xmlns:a="http://schemas.openxmlformats.org/drawingml/2006/main">
            <a:off x="6483600" y="3780000"/>
            <a:ext cx="3906000" cy="3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2000" b="1">
                <a:solidFill>
                  <a:srgbClr val="0A4F4E"/>
                </a:solidFill>
                <a:latin typeface="Calibri"/>
                <a:ea typeface="Calibri"/>
              </a:rPr>
              <a:t>Holiday freeze overlap</a:t>
            </a:r>
          </a:p>
        </p:txBody>
      </p:sp>
      <p:sp>
        <p:nvSpPr>
          <p:cNvPr id="100072" name="TextBox 16"/>
          <p:cNvSpPr/>
          <p:nvPr/>
        </p:nvSpPr>
        <p:spPr>
          <a:xfrm xmlns:a="http://schemas.openxmlformats.org/drawingml/2006/main">
            <a:off x="10425600" y="3816000"/>
            <a:ext cx="972000" cy="28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/>
            <a:r>
              <a:rPr lang="en-US" sz="1200" b="1">
                <a:solidFill>
                  <a:srgbClr val="0E7C7B"/>
                </a:solidFill>
                <a:latin typeface="Consolas"/>
                <a:ea typeface="Consolas"/>
              </a:rPr>
              <a:t>LOW</a:t>
            </a:r>
          </a:p>
        </p:txBody>
      </p:sp>
      <p:sp>
        <p:nvSpPr>
          <p:cNvPr id="100073" name="TextBox 17"/>
          <p:cNvSpPr/>
          <p:nvPr/>
        </p:nvSpPr>
        <p:spPr>
          <a:xfrm xmlns:a="http://schemas.openxmlformats.org/drawingml/2006/main">
            <a:off x="6483600" y="4284000"/>
            <a:ext cx="4914000" cy="111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1F2933"/>
                </a:solidFill>
                <a:latin typeface="Calibri"/>
                <a:ea typeface="Calibri"/>
              </a:rPr>
              <a:t>Build phase spans the freeze — pilot start is the buffer, not the deadline.</a:t>
            </a:r>
          </a:p>
        </p:txBody>
      </p:sp>
    </p:spTree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A4F4E"/>
        </a:solidFill>
      </p:bgPr>
    </p:bg>
    <p:spTree>
      <p:nvGrpSpPr>
        <p:cNvPr id="1" name=""/>
        <p:cNvGrpSpPr/>
        <p:nvPr/>
      </p:nvGrpSpPr>
      <p:grpSpPr/>
      <p:sp>
        <p:nvSpPr>
          <p:cNvPr id="100074" name="Title"/>
          <p:cNvSpPr/>
          <p:nvPr/>
        </p:nvSpPr>
        <p:spPr>
          <a:xfrm xmlns:a="http://schemas.openxmlformats.org/drawingml/2006/main">
            <a:off x="900000" y="936000"/>
            <a:ext cx="9360000" cy="82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4000" b="1">
                <a:solidFill>
                  <a:srgbClr val="FFFFFF"/>
                </a:solidFill>
                <a:latin typeface="Cambria"/>
                <a:ea typeface="Cambria"/>
              </a:rPr>
              <a:t>Next Steps</a:t>
            </a:r>
          </a:p>
        </p:txBody>
      </p:sp>
      <p:sp>
        <p:nvSpPr>
          <p:cNvPr id="100075" name="TextBox 2"/>
          <p:cNvSpPr/>
          <p:nvPr/>
        </p:nvSpPr>
        <p:spPr>
          <a:xfrm xmlns:a="http://schemas.openxmlformats.org/drawingml/2006/main">
            <a:off x="900000" y="2178000"/>
            <a:ext cx="792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2000">
                <a:solidFill>
                  <a:srgbClr val="FFFFFF"/>
                </a:solidFill>
                <a:latin typeface="Calibri"/>
                <a:ea typeface="Calibri"/>
              </a:rPr>
              <a:t>Confirm the charter and decision rights in writing.</a:t>
            </a:r>
          </a:p>
        </p:txBody>
      </p:sp>
      <p:sp>
        <p:nvSpPr>
          <p:cNvPr id="100076" name="TextBox 3"/>
          <p:cNvSpPr/>
          <p:nvPr/>
        </p:nvSpPr>
        <p:spPr>
          <a:xfrm xmlns:a="http://schemas.openxmlformats.org/drawingml/2006/main">
            <a:off x="9000000" y="2214000"/>
            <a:ext cx="2473200" cy="3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/>
            <a:r>
              <a:rPr lang="en-US" sz="1300" b="1">
                <a:solidFill>
                  <a:srgbClr val="B9D6D4"/>
                </a:solidFill>
                <a:latin typeface="Consolas"/>
                <a:ea typeface="Consolas"/>
              </a:rPr>
              <a:t>SPONSOR · NOV 5</a:t>
            </a:r>
          </a:p>
        </p:txBody>
      </p:sp>
      <p:sp>
        <p:nvSpPr>
          <p:cNvPr id="100077" name="TextBox 4"/>
          <p:cNvSpPr/>
          <p:nvPr/>
        </p:nvSpPr>
        <p:spPr>
          <a:xfrm xmlns:a="http://schemas.openxmlformats.org/drawingml/2006/main">
            <a:off x="900000" y="3078000"/>
            <a:ext cx="792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2000">
                <a:solidFill>
                  <a:srgbClr val="FFFFFF"/>
                </a:solidFill>
                <a:latin typeface="Calibri"/>
                <a:ea typeface="Calibri"/>
              </a:rPr>
              <a:t>Discovery interviews with all four operator shifts.</a:t>
            </a:r>
          </a:p>
        </p:txBody>
      </p:sp>
      <p:sp>
        <p:nvSpPr>
          <p:cNvPr id="100078" name="TextBox 5"/>
          <p:cNvSpPr/>
          <p:nvPr/>
        </p:nvSpPr>
        <p:spPr>
          <a:xfrm xmlns:a="http://schemas.openxmlformats.org/drawingml/2006/main">
            <a:off x="9000000" y="3114000"/>
            <a:ext cx="2473200" cy="3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/>
            <a:r>
              <a:rPr lang="en-US" sz="1300" b="1">
                <a:solidFill>
                  <a:srgbClr val="B9D6D4"/>
                </a:solidFill>
                <a:latin typeface="Consolas"/>
                <a:ea typeface="Consolas"/>
              </a:rPr>
              <a:t>PM · NOV 14</a:t>
            </a:r>
          </a:p>
        </p:txBody>
      </p:sp>
      <p:sp>
        <p:nvSpPr>
          <p:cNvPr id="100079" name="TextBox 6"/>
          <p:cNvSpPr/>
          <p:nvPr/>
        </p:nvSpPr>
        <p:spPr>
          <a:xfrm xmlns:a="http://schemas.openxmlformats.org/drawingml/2006/main">
            <a:off x="900000" y="3978000"/>
            <a:ext cx="792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2000">
                <a:solidFill>
                  <a:srgbClr val="FFFFFF"/>
                </a:solidFill>
                <a:latin typeface="Calibri"/>
                <a:ea typeface="Calibri"/>
              </a:rPr>
              <a:t>Staging access to the warehouse API.</a:t>
            </a:r>
          </a:p>
        </p:txBody>
      </p:sp>
      <p:sp>
        <p:nvSpPr>
          <p:cNvPr id="100080" name="TextBox 7"/>
          <p:cNvSpPr/>
          <p:nvPr/>
        </p:nvSpPr>
        <p:spPr>
          <a:xfrm xmlns:a="http://schemas.openxmlformats.org/drawingml/2006/main">
            <a:off x="9000000" y="4014000"/>
            <a:ext cx="2473200" cy="3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/>
            <a:r>
              <a:rPr lang="en-US" sz="1300" b="1">
                <a:solidFill>
                  <a:srgbClr val="B9D6D4"/>
                </a:solidFill>
                <a:latin typeface="Consolas"/>
                <a:ea typeface="Consolas"/>
              </a:rPr>
              <a:t>ENG · NOV 7</a:t>
            </a:r>
          </a:p>
        </p:txBody>
      </p:sp>
      <p:sp>
        <p:nvSpPr>
          <p:cNvPr id="100081" name="TextBox 8"/>
          <p:cNvSpPr/>
          <p:nvPr/>
        </p:nvSpPr>
        <p:spPr>
          <a:xfrm xmlns:a="http://schemas.openxmlformats.org/drawingml/2006/main">
            <a:off x="900000" y="5976000"/>
            <a:ext cx="9360000" cy="3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1400">
                <a:solidFill>
                  <a:srgbClr val="B9D6D4"/>
                </a:solidFill>
                <a:latin typeface="Calibri"/>
                <a:ea typeface="Calibri"/>
              </a:rPr>
              <a:t>Weekly status every Friday — first steering review 21 November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OfficeCLI/1.0.140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2026-07-22T10:09:10Z</dcterms:created>
  <cp:lastModifiedBy>OfficeCLI</cp:lastModifiedBy>
  <dcterms:modified xsi:type="dcterms:W3CDTF">2026-07-22T10:09:10Z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1.0.140</vt:lpwstr>
  </op:property>
  <op:property fmtid="{D5CDD505-2E9C-101B-9397-08002B2CF9AE}" pid="3" name="OfficeCLI.LastModified">
    <vt:lpwstr xmlns:vt="http://schemas.openxmlformats.org/officeDocument/2006/docPropsVTypes">2026-07-22T10:09:16Z</vt:lpwstr>
  </op:property>
</op:Properties>
</file>