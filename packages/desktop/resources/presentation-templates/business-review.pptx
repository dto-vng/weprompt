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5e219624dea4071" /><Relationship Type="http://schemas.openxmlformats.org/package/2006/relationships/metadata/core-properties" Target="/docProps/core.xml" Id="R0ad505a0e3454fc7" /><Relationship Type="http://schemas.openxmlformats.org/officeDocument/2006/relationships/extended-properties" Target="/docProps/app.xml" Id="Rfcf82b49eeea419d" /><Relationship Type="http://schemas.openxmlformats.org/officeDocument/2006/relationships/custom-properties" Target="/docProps/custom.xml" Id="Rb0d841552a734e8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c3080c28bace4dd3"/>
    <p:sldId id="257" r:id="R1d1ead23947d44e4"/>
    <p:sldId id="258" r:id="R1a0b7c8aaaec47f0"/>
    <p:sldId id="259" r:id="Ra8a09be483654a3b"/>
    <p:sldId id="260" r:id="R9604c9a7f1e24cf6"/>
    <p:sldId id="261" r:id="R82a81f7831924bb1"/>
    <p:sldId id="262" r:id="Rf06eacb7d05d4d1c"/>
    <p:sldId id="263" r:id="R55aabaef5f4f476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3080c28bace4dd3" /><Relationship Type="http://schemas.openxmlformats.org/officeDocument/2006/relationships/slide" Target="/ppt/slides/slide2.xml" Id="R1d1ead23947d44e4" /><Relationship Type="http://schemas.openxmlformats.org/officeDocument/2006/relationships/slide" Target="/ppt/slides/slide3.xml" Id="R1a0b7c8aaaec47f0" /><Relationship Type="http://schemas.openxmlformats.org/officeDocument/2006/relationships/slide" Target="/ppt/slides/slide4.xml" Id="Ra8a09be483654a3b" /><Relationship Type="http://schemas.openxmlformats.org/officeDocument/2006/relationships/slide" Target="/ppt/slides/slide5.xml" Id="R9604c9a7f1e24cf6" /><Relationship Type="http://schemas.openxmlformats.org/officeDocument/2006/relationships/slide" Target="/ppt/slides/slide6.xml" Id="R82a81f7831924bb1" /><Relationship Type="http://schemas.openxmlformats.org/officeDocument/2006/relationships/slide" Target="/ppt/slides/slide7.xml" Id="Rf06eacb7d05d4d1c" /><Relationship Type="http://schemas.openxmlformats.org/officeDocument/2006/relationships/slide" Target="/ppt/slides/slide8.xml" Id="R55aabaef5f4f47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Cover. Replace company, quarter, presenter and date. Keep the giant quarter numeral — it is the deck motif.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 with the beat, then margin, then the asks. Keep to three points — move detail to the section slides.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the cards left to right; flag the watch item verbally rather than adding a fifth card.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chart carries the trend; the card carries the so-what. Replace both with the current quarter’s data.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block per segment: result, driver, action. Duplicate this slide if there are more than three segments.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Divider. One per section; the giant number matches the agenda order.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Max three priorities; each carries an owner and a date. These are the asks — pause here for the decision.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on guidance and the watch item. Confirm the decision log before ending the meeting.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f3ac0d277a48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8629ddf4ae489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1eeac24ab44d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cd0f0ad404f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2cd9d921f5497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8e0ac271cc14e8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3164511c84176" /><Relationship Type="http://schemas.openxmlformats.org/officeDocument/2006/relationships/notesSlide" Target="/ppt/notesSlides/notesSlide1.xml" Id="R76190606eb5a44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bcafa33cc431b" /><Relationship Type="http://schemas.openxmlformats.org/officeDocument/2006/relationships/notesSlide" Target="/ppt/notesSlides/notesSlide2.xml" Id="R44332dd6aeba4a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f4615852da4c72" /><Relationship Type="http://schemas.openxmlformats.org/officeDocument/2006/relationships/notesSlide" Target="/ppt/notesSlides/notesSlide3.xml" Id="Rab12e96fa03843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6ee43fa8b4734" /><Relationship Type="http://schemas.openxmlformats.org/officeDocument/2006/relationships/chart" Target="/ppt/slides/charts/chart1.xml" Id="Ra3ee5ad0fde3447d" /><Relationship Type="http://schemas.openxmlformats.org/officeDocument/2006/relationships/notesSlide" Target="/ppt/notesSlides/notesSlide4.xml" Id="R6346839c39b848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794966aa74628" /><Relationship Type="http://schemas.openxmlformats.org/officeDocument/2006/relationships/chart" Target="/ppt/slides/charts/chart2.xml" Id="R7bcacd7d17964322" /><Relationship Type="http://schemas.openxmlformats.org/officeDocument/2006/relationships/notesSlide" Target="/ppt/notesSlides/notesSlide5.xml" Id="R993a98b2ce7d42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3710465364a4a" /><Relationship Type="http://schemas.openxmlformats.org/officeDocument/2006/relationships/notesSlide" Target="/ppt/notesSlides/notesSlide6.xml" Id="Rb5d037019b7e42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8221dc01940ae" /><Relationship Type="http://schemas.openxmlformats.org/officeDocument/2006/relationships/notesSlide" Target="/ppt/notesSlides/notesSlide7.xml" Id="Rf61ce3a98cae42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3f0c4082f4cec" /><Relationship Type="http://schemas.openxmlformats.org/officeDocument/2006/relationships/notesSlide" Target="/ppt/notesSlides/notesSlide8.xml" Id="Ref03cb80297d4a5f" /></Relationships>
</file>

<file path=ppt/slides/charts/chart1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1"/>
            </a:pPr>
            <a:r>
              <a:rPr lang="en-US" sz="1400" b="1"/>
              <a:t>Revenue by quarter, $M</a:t>
            </a:r>
          </a:p>
        </c:rich>
      </c:tx>
      <c:overlay val="0"/>
    </c:title>
    <c:plotArea>
      <c:layout/>
      <c:barChart>
        <c:barDir val="col"/>
        <c:grouping val="clustered"/>
        <c:varyColors val="0"/>
        <c:ser>
          <c:idx val="0"/>
          <c:order val="0"/>
          <c:tx>
            <c:v>Actual</c:v>
          </c:tx>
          <c:spPr>
            <a:solidFill xmlns:a="http://schemas.openxmlformats.org/drawingml/2006/main">
              <a:srgbClr val="0B1F3A"/>
            </a:solidFill>
          </c:spPr>
          <c:invertIfNegative val="0"/>
          <c:cat>
            <c:strLit>
              <c:ptCount val="4"/>
              <c:pt idx="0">
                <c:v>Q4</c:v>
              </c:pt>
              <c:pt idx="1">
                <c:v>Q1</c:v>
              </c:pt>
              <c:pt idx="2">
                <c:v>Q2</c:v>
              </c:pt>
              <c:pt idx="3">
                <c:v>Q3</c:v>
              </c:pt>
            </c:strLit>
          </c:cat>
          <c:val>
            <c:numLit>
              <c:formatCode>General</c:formatCode>
              <c:ptCount val="4"/>
              <c:pt idx="0">
                <c:v>74</c:v>
              </c:pt>
              <c:pt idx="1">
                <c:v>78</c:v>
              </c:pt>
              <c:pt idx="2">
                <c:v>81</c:v>
              </c:pt>
              <c:pt idx="3">
                <c:v>84.2</c:v>
              </c:pt>
            </c:numLit>
          </c:val>
        </c:ser>
        <c:ser>
          <c:idx val="1"/>
          <c:order val="1"/>
          <c:tx>
            <c:v>Plan</c:v>
          </c:tx>
          <c:spPr>
            <a:solidFill xmlns:a="http://schemas.openxmlformats.org/drawingml/2006/main">
              <a:srgbClr val="9DB0C9"/>
            </a:solidFill>
          </c:spPr>
          <c:invertIfNegative val="0"/>
          <c:cat>
            <c:strLit>
              <c:ptCount val="4"/>
              <c:pt idx="0">
                <c:v>Q4</c:v>
              </c:pt>
              <c:pt idx="1">
                <c:v>Q1</c:v>
              </c:pt>
              <c:pt idx="2">
                <c:v>Q2</c:v>
              </c:pt>
              <c:pt idx="3">
                <c:v>Q3</c:v>
              </c:pt>
            </c:strLit>
          </c:cat>
          <c:val>
            <c:numLit>
              <c:formatCode>General</c:formatCode>
              <c:ptCount val="4"/>
              <c:pt idx="0">
                <c:v>71</c:v>
              </c:pt>
              <c:pt idx="1">
                <c:v>74</c:v>
              </c:pt>
              <c:pt idx="2">
                <c:v>78</c:v>
              </c:pt>
              <c:pt idx="3">
                <c:v>80</c:v>
              </c:pt>
            </c:numLit>
          </c:val>
        </c:ser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</c:chartSpace>
</file>

<file path=ppt/slides/charts/chart2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1"/>
            </a:pPr>
            <a:r>
              <a:rPr lang="en-US" sz="1400" b="1"/>
              <a:t>Revenue by segment, $M</a:t>
            </a:r>
          </a:p>
        </c:rich>
      </c:tx>
      <c:overlay val="0"/>
    </c:title>
    <c:plotArea>
      <c:layout/>
      <c:barChart>
        <c:barDir val="bar"/>
        <c:grouping val="clustered"/>
        <c:varyColors val="0"/>
        <c:ser>
          <c:idx val="0"/>
          <c:order val="0"/>
          <c:tx>
            <c:v>Revenue $M</c:v>
          </c:tx>
          <c:spPr>
            <a:solidFill xmlns:a="http://schemas.openxmlformats.org/drawingml/2006/main">
              <a:srgbClr val="0B1F3A"/>
            </a:solidFill>
          </c:spPr>
          <c:invertIfNegative val="0"/>
          <c:cat>
            <c:strLit>
              <c:ptCount val="3"/>
              <c:pt idx="0">
                <c:v>Enterprise</c:v>
              </c:pt>
              <c:pt idx="1">
                <c:v>Mid-market</c:v>
              </c:pt>
              <c:pt idx="2">
                <c:v>SMB</c:v>
              </c:pt>
            </c:strLit>
          </c:cat>
          <c:val>
            <c:numLit>
              <c:formatCode>General</c:formatCode>
              <c:ptCount val="3"/>
              <c:pt idx="0">
                <c:v>38</c:v>
              </c:pt>
              <c:pt idx="1">
                <c:v>29</c:v>
              </c:pt>
              <c:pt idx="2">
                <c:v>17</c:v>
              </c:pt>
            </c:numLit>
          </c:val>
        </c:ser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/>
          <p:nvPr/>
        </p:nvSpPr>
        <p:spPr>
          <a:xfrm xmlns:a="http://schemas.openxmlformats.org/drawingml/2006/main">
            <a:off x="7200000" y="1656000"/>
            <a:ext cx="468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22000" b="1">
                <a:solidFill>
                  <a:srgbClr val="14294D"/>
                </a:solidFill>
                <a:latin typeface="Cambria"/>
                <a:ea typeface="Cambria"/>
              </a:rPr>
              <a:t>Q3</a:t>
            </a:r>
          </a:p>
        </p:txBody>
      </p:sp>
      <p:sp>
        <p:nvSpPr>
          <p:cNvPr id="100001" name="TextBox 2"/>
          <p:cNvSpPr/>
          <p:nvPr/>
        </p:nvSpPr>
        <p:spPr>
          <a:xfrm xmlns:a="http://schemas.openxmlformats.org/drawingml/2006/main">
            <a:off x="900000" y="2196000"/>
            <a:ext cx="72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2A33C"/>
                </a:solidFill>
                <a:latin typeface="Consolas"/>
                <a:ea typeface="Consolas"/>
              </a:rPr>
              <a:t>QUARTERLY BUSINESS REVIEW</a:t>
            </a:r>
          </a:p>
        </p:txBody>
      </p:sp>
      <p:sp>
        <p:nvSpPr>
          <p:cNvPr id="100002" name="Title"/>
          <p:cNvSpPr/>
          <p:nvPr/>
        </p:nvSpPr>
        <p:spPr>
          <a:xfrm xmlns:a="http://schemas.openxmlformats.org/drawingml/2006/main">
            <a:off x="900000" y="2592000"/>
            <a:ext cx="864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FFFFFF"/>
                </a:solidFill>
                <a:latin typeface="Cambria"/>
                <a:ea typeface="Cambria"/>
              </a:rPr>
              <a:t>Q3 FY26 Business Review</a:t>
            </a:r>
          </a:p>
        </p:txBody>
      </p:sp>
      <p:sp>
        <p:nvSpPr>
          <p:cNvPr id="100003" name="TextBox 4"/>
          <p:cNvSpPr/>
          <p:nvPr/>
        </p:nvSpPr>
        <p:spPr>
          <a:xfrm xmlns:a="http://schemas.openxmlformats.org/drawingml/2006/main">
            <a:off x="900000" y="3636000"/>
            <a:ext cx="864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9DB0C9"/>
                </a:solidFill>
                <a:latin typeface="Calibri"/>
                <a:ea typeface="Calibri"/>
              </a:rPr>
              <a:t>Acme Corp — Jordan Lee, CFO — 14 October FY26</a:t>
            </a:r>
          </a:p>
        </p:txBody>
      </p:sp>
      <p:sp>
        <p:nvSpPr>
          <p:cNvPr id="100004" name="TextBox 5"/>
          <p:cNvSpPr/>
          <p:nvPr/>
        </p:nvSpPr>
        <p:spPr>
          <a:xfrm xmlns:a="http://schemas.openxmlformats.org/drawingml/2006/main">
            <a:off x="900000" y="6084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5" name="TextBox 6"/>
          <p:cNvSpPr/>
          <p:nvPr/>
        </p:nvSpPr>
        <p:spPr>
          <a:xfrm xmlns:a="http://schemas.openxmlformats.org/drawingml/2006/main">
            <a:off x="1188000" y="5983200"/>
            <a:ext cx="72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9DB0C9"/>
                </a:solidFill>
                <a:latin typeface="Calibri"/>
                <a:ea typeface="Calibri"/>
              </a:rPr>
              <a:t>Confidential — prepared for the board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6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B1F3A"/>
                </a:solidFill>
                <a:latin typeface="Cambria"/>
                <a:ea typeface="Cambria"/>
              </a:rPr>
              <a:t>Executive Summary</a:t>
            </a:r>
          </a:p>
        </p:txBody>
      </p:sp>
      <p:sp>
        <p:nvSpPr>
          <p:cNvPr id="100007" name="RowNum1"/>
          <p:cNvSpPr/>
          <p:nvPr/>
        </p:nvSpPr>
        <p:spPr>
          <a:xfrm xmlns:a="http://schemas.openxmlformats.org/drawingml/2006/main">
            <a:off x="540000" y="1422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0B1F3A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100008" name="TextBox 3"/>
          <p:cNvSpPr/>
          <p:nvPr/>
        </p:nvSpPr>
        <p:spPr>
          <a:xfrm xmlns:a="http://schemas.openxmlformats.org/drawingml/2006/main">
            <a:off x="1332000" y="1440000"/>
            <a:ext cx="61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Revenue beat plan by 18%</a:t>
            </a:r>
          </a:p>
        </p:txBody>
      </p:sp>
      <p:sp>
        <p:nvSpPr>
          <p:cNvPr id="100009" name="TextBox 4"/>
          <p:cNvSpPr/>
          <p:nvPr/>
        </p:nvSpPr>
        <p:spPr>
          <a:xfrm xmlns:a="http://schemas.openxmlformats.org/drawingml/2006/main">
            <a:off x="1332000" y="1890000"/>
            <a:ext cx="612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Enterprise renewals and the EMEA launch drove the beat; NRR held at 118%.</a:t>
            </a:r>
          </a:p>
        </p:txBody>
      </p:sp>
      <p:sp>
        <p:nvSpPr>
          <p:cNvPr id="100010" name="RowNum2"/>
          <p:cNvSpPr/>
          <p:nvPr/>
        </p:nvSpPr>
        <p:spPr>
          <a:xfrm xmlns:a="http://schemas.openxmlformats.org/drawingml/2006/main">
            <a:off x="540000" y="2826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0B1F3A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00011" name="TextBox 6"/>
          <p:cNvSpPr/>
          <p:nvPr/>
        </p:nvSpPr>
        <p:spPr>
          <a:xfrm xmlns:a="http://schemas.openxmlformats.org/drawingml/2006/main">
            <a:off x="1332000" y="2844000"/>
            <a:ext cx="61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Margin expanded 1.9pp</a:t>
            </a:r>
          </a:p>
        </p:txBody>
      </p:sp>
      <p:sp>
        <p:nvSpPr>
          <p:cNvPr id="100012" name="TextBox 7"/>
          <p:cNvSpPr/>
          <p:nvPr/>
        </p:nvSpPr>
        <p:spPr>
          <a:xfrm xmlns:a="http://schemas.openxmlformats.org/drawingml/2006/main">
            <a:off x="1332000" y="3294000"/>
            <a:ext cx="612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Support automation and infra renegotiation offset the FX headwind.</a:t>
            </a:r>
          </a:p>
        </p:txBody>
      </p:sp>
      <p:sp>
        <p:nvSpPr>
          <p:cNvPr id="100013" name="RowNum3"/>
          <p:cNvSpPr/>
          <p:nvPr/>
        </p:nvSpPr>
        <p:spPr>
          <a:xfrm xmlns:a="http://schemas.openxmlformats.org/drawingml/2006/main">
            <a:off x="540000" y="4230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0B1F3A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00014" name="TextBox 9"/>
          <p:cNvSpPr/>
          <p:nvPr/>
        </p:nvSpPr>
        <p:spPr>
          <a:xfrm xmlns:a="http://schemas.openxmlformats.org/drawingml/2006/main">
            <a:off x="1332000" y="4248000"/>
            <a:ext cx="61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Two decisions requested today</a:t>
            </a:r>
          </a:p>
        </p:txBody>
      </p:sp>
      <p:sp>
        <p:nvSpPr>
          <p:cNvPr id="100015" name="TextBox 10"/>
          <p:cNvSpPr/>
          <p:nvPr/>
        </p:nvSpPr>
        <p:spPr>
          <a:xfrm xmlns:a="http://schemas.openxmlformats.org/drawingml/2006/main">
            <a:off x="1332000" y="4698000"/>
            <a:ext cx="612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Approve the EMEA headcount plan and the FY27 pricing change (slide 7).</a:t>
            </a:r>
          </a:p>
        </p:txBody>
      </p:sp>
      <p:sp>
        <p:nvSpPr>
          <p:cNvPr id="100016" name="HeroCard"/>
          <p:cNvSpPr/>
          <p:nvPr/>
        </p:nvSpPr>
        <p:spPr>
          <a:xfrm xmlns:a="http://schemas.openxmlformats.org/drawingml/2006/main">
            <a:off x="8280000" y="1368000"/>
            <a:ext cx="3373200" cy="457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94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7" name="TextBox 12"/>
          <p:cNvSpPr/>
          <p:nvPr/>
        </p:nvSpPr>
        <p:spPr>
          <a:xfrm xmlns:a="http://schemas.openxmlformats.org/drawingml/2006/main">
            <a:off x="8496000" y="1692000"/>
            <a:ext cx="295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2A33C"/>
                </a:solidFill>
                <a:latin typeface="Consolas"/>
                <a:ea typeface="Consolas"/>
              </a:rPr>
              <a:t>QUARTER IN ONE NUMBER</a:t>
            </a:r>
          </a:p>
        </p:txBody>
      </p:sp>
      <p:sp>
        <p:nvSpPr>
          <p:cNvPr id="100018" name="TextBox 13"/>
          <p:cNvSpPr/>
          <p:nvPr/>
        </p:nvSpPr>
        <p:spPr>
          <a:xfrm xmlns:a="http://schemas.openxmlformats.org/drawingml/2006/main">
            <a:off x="8280000" y="2376000"/>
            <a:ext cx="337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6600" b="1">
                <a:solidFill>
                  <a:srgbClr val="FFFFFF"/>
                </a:solidFill>
                <a:latin typeface="Cambria"/>
                <a:ea typeface="Cambria"/>
              </a:rPr>
              <a:t>+18%</a:t>
            </a:r>
          </a:p>
        </p:txBody>
      </p:sp>
      <p:sp>
        <p:nvSpPr>
          <p:cNvPr id="100019" name="TextBox 14"/>
          <p:cNvSpPr/>
          <p:nvPr/>
        </p:nvSpPr>
        <p:spPr>
          <a:xfrm xmlns:a="http://schemas.openxmlformats.org/drawingml/2006/main">
            <a:off x="8280000" y="3600000"/>
            <a:ext cx="33732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9DB0C9"/>
                </a:solidFill>
                <a:latin typeface="Calibri"/>
                <a:ea typeface="Calibri"/>
              </a:rPr>
              <a:t>Revenue vs plan</a:t>
            </a:r>
          </a:p>
        </p:txBody>
      </p:sp>
      <p:sp>
        <p:nvSpPr>
          <p:cNvPr id="100020" name="TextBox 15"/>
          <p:cNvSpPr/>
          <p:nvPr/>
        </p:nvSpPr>
        <p:spPr>
          <a:xfrm xmlns:a="http://schemas.openxmlformats.org/drawingml/2006/main">
            <a:off x="8496000" y="4248000"/>
            <a:ext cx="29520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FFFFFF"/>
                </a:solidFill>
                <a:latin typeface="Calibri"/>
                <a:ea typeface="Calibri"/>
              </a:rPr>
              <a:t>Third consecutive quarter above plan; guidance raised for Q4.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1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B1F3A"/>
                </a:solidFill>
                <a:latin typeface="Cambria"/>
                <a:ea typeface="Cambria"/>
              </a:rPr>
              <a:t>KPI Scorecard</a:t>
            </a:r>
          </a:p>
        </p:txBody>
      </p:sp>
      <p:sp>
        <p:nvSpPr>
          <p:cNvPr id="100022" name="Kpi1"/>
          <p:cNvSpPr/>
          <p:nvPr/>
        </p:nvSpPr>
        <p:spPr>
          <a:xfrm xmlns:a="http://schemas.openxmlformats.org/drawingml/2006/main">
            <a:off x="540000" y="1512000"/>
            <a:ext cx="2574000" cy="32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94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3" name="TextBox 3"/>
          <p:cNvSpPr/>
          <p:nvPr/>
        </p:nvSpPr>
        <p:spPr>
          <a:xfrm xmlns:a="http://schemas.openxmlformats.org/drawingml/2006/main">
            <a:off x="540000" y="2016000"/>
            <a:ext cx="2574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5400" b="1">
                <a:solidFill>
                  <a:srgbClr val="FFFFFF"/>
                </a:solidFill>
                <a:latin typeface="Cambria"/>
                <a:ea typeface="Cambria"/>
              </a:rPr>
              <a:t>$84.2</a:t>
            </a:r>
          </a:p>
        </p:txBody>
      </p:sp>
      <p:sp>
        <p:nvSpPr>
          <p:cNvPr id="100024" name="TextBox 4"/>
          <p:cNvSpPr/>
          <p:nvPr/>
        </p:nvSpPr>
        <p:spPr>
          <a:xfrm xmlns:a="http://schemas.openxmlformats.org/drawingml/2006/main">
            <a:off x="540000" y="3096000"/>
            <a:ext cx="257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9DB0C9"/>
                </a:solidFill>
                <a:latin typeface="Calibri"/>
                <a:ea typeface="Calibri"/>
              </a:rPr>
              <a:t>Revenue, $M</a:t>
            </a:r>
          </a:p>
        </p:txBody>
      </p:sp>
      <p:sp>
        <p:nvSpPr>
          <p:cNvPr id="100025" name="TextBox 5"/>
          <p:cNvSpPr/>
          <p:nvPr/>
        </p:nvSpPr>
        <p:spPr>
          <a:xfrm xmlns:a="http://schemas.openxmlformats.org/drawingml/2006/main">
            <a:off x="540000" y="3744000"/>
            <a:ext cx="257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2A33C"/>
                </a:solidFill>
                <a:latin typeface="Calibri"/>
                <a:ea typeface="Calibri"/>
              </a:rPr>
              <a:t>+18% vs plan</a:t>
            </a:r>
          </a:p>
        </p:txBody>
      </p:sp>
      <p:sp>
        <p:nvSpPr>
          <p:cNvPr id="100026" name="Kpi2"/>
          <p:cNvSpPr/>
          <p:nvPr/>
        </p:nvSpPr>
        <p:spPr>
          <a:xfrm xmlns:a="http://schemas.openxmlformats.org/drawingml/2006/main">
            <a:off x="3387600" y="1512000"/>
            <a:ext cx="2574000" cy="32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94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TextBox 7"/>
          <p:cNvSpPr/>
          <p:nvPr/>
        </p:nvSpPr>
        <p:spPr>
          <a:xfrm xmlns:a="http://schemas.openxmlformats.org/drawingml/2006/main">
            <a:off x="3387600" y="2016000"/>
            <a:ext cx="2574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5400" b="1">
                <a:solidFill>
                  <a:srgbClr val="FFFFFF"/>
                </a:solidFill>
                <a:latin typeface="Cambria"/>
                <a:ea typeface="Cambria"/>
              </a:rPr>
              <a:t>62.4%</a:t>
            </a:r>
          </a:p>
        </p:txBody>
      </p:sp>
      <p:sp>
        <p:nvSpPr>
          <p:cNvPr id="100028" name="TextBox 8"/>
          <p:cNvSpPr/>
          <p:nvPr/>
        </p:nvSpPr>
        <p:spPr>
          <a:xfrm xmlns:a="http://schemas.openxmlformats.org/drawingml/2006/main">
            <a:off x="3387600" y="3096000"/>
            <a:ext cx="257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9DB0C9"/>
                </a:solidFill>
                <a:latin typeface="Calibri"/>
                <a:ea typeface="Calibri"/>
              </a:rPr>
              <a:t>Gross margin</a:t>
            </a:r>
          </a:p>
        </p:txBody>
      </p:sp>
      <p:sp>
        <p:nvSpPr>
          <p:cNvPr id="100029" name="TextBox 9"/>
          <p:cNvSpPr/>
          <p:nvPr/>
        </p:nvSpPr>
        <p:spPr>
          <a:xfrm xmlns:a="http://schemas.openxmlformats.org/drawingml/2006/main">
            <a:off x="3387600" y="3744000"/>
            <a:ext cx="257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2A33C"/>
                </a:solidFill>
                <a:latin typeface="Calibri"/>
                <a:ea typeface="Calibri"/>
              </a:rPr>
              <a:t>+1.9pp QoQ</a:t>
            </a:r>
          </a:p>
        </p:txBody>
      </p:sp>
      <p:sp>
        <p:nvSpPr>
          <p:cNvPr id="100030" name="Kpi3"/>
          <p:cNvSpPr/>
          <p:nvPr/>
        </p:nvSpPr>
        <p:spPr>
          <a:xfrm xmlns:a="http://schemas.openxmlformats.org/drawingml/2006/main">
            <a:off x="6235200" y="1512000"/>
            <a:ext cx="2574000" cy="32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94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TextBox 11"/>
          <p:cNvSpPr/>
          <p:nvPr/>
        </p:nvSpPr>
        <p:spPr>
          <a:xfrm xmlns:a="http://schemas.openxmlformats.org/drawingml/2006/main">
            <a:off x="6235200" y="2016000"/>
            <a:ext cx="2574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5400" b="1">
                <a:solidFill>
                  <a:srgbClr val="FFFFFF"/>
                </a:solidFill>
                <a:latin typeface="Cambria"/>
                <a:ea typeface="Cambria"/>
              </a:rPr>
              <a:t>118%</a:t>
            </a:r>
          </a:p>
        </p:txBody>
      </p:sp>
      <p:sp>
        <p:nvSpPr>
          <p:cNvPr id="100032" name="TextBox 12"/>
          <p:cNvSpPr/>
          <p:nvPr/>
        </p:nvSpPr>
        <p:spPr>
          <a:xfrm xmlns:a="http://schemas.openxmlformats.org/drawingml/2006/main">
            <a:off x="6235200" y="3096000"/>
            <a:ext cx="257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9DB0C9"/>
                </a:solidFill>
                <a:latin typeface="Calibri"/>
                <a:ea typeface="Calibri"/>
              </a:rPr>
              <a:t>Net revenue retention</a:t>
            </a:r>
          </a:p>
        </p:txBody>
      </p:sp>
      <p:sp>
        <p:nvSpPr>
          <p:cNvPr id="100033" name="TextBox 13"/>
          <p:cNvSpPr/>
          <p:nvPr/>
        </p:nvSpPr>
        <p:spPr>
          <a:xfrm xmlns:a="http://schemas.openxmlformats.org/drawingml/2006/main">
            <a:off x="6235200" y="3744000"/>
            <a:ext cx="257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2A33C"/>
                </a:solidFill>
                <a:latin typeface="Calibri"/>
                <a:ea typeface="Calibri"/>
              </a:rPr>
              <a:t>+3pp YoY</a:t>
            </a:r>
          </a:p>
        </p:txBody>
      </p:sp>
      <p:sp>
        <p:nvSpPr>
          <p:cNvPr id="100034" name="Kpi4"/>
          <p:cNvSpPr/>
          <p:nvPr/>
        </p:nvSpPr>
        <p:spPr>
          <a:xfrm xmlns:a="http://schemas.openxmlformats.org/drawingml/2006/main">
            <a:off x="9082800" y="1512000"/>
            <a:ext cx="2574000" cy="32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94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TextBox 15"/>
          <p:cNvSpPr/>
          <p:nvPr/>
        </p:nvSpPr>
        <p:spPr>
          <a:xfrm xmlns:a="http://schemas.openxmlformats.org/drawingml/2006/main">
            <a:off x="9082800" y="2016000"/>
            <a:ext cx="2574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5400" b="1">
                <a:solidFill>
                  <a:srgbClr val="FFFFFF"/>
                </a:solidFill>
                <a:latin typeface="Cambria"/>
                <a:ea typeface="Cambria"/>
              </a:rPr>
              <a:t>4.2</a:t>
            </a:r>
          </a:p>
        </p:txBody>
      </p:sp>
      <p:sp>
        <p:nvSpPr>
          <p:cNvPr id="100036" name="TextBox 16"/>
          <p:cNvSpPr/>
          <p:nvPr/>
        </p:nvSpPr>
        <p:spPr>
          <a:xfrm xmlns:a="http://schemas.openxmlformats.org/drawingml/2006/main">
            <a:off x="9082800" y="3096000"/>
            <a:ext cx="257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9DB0C9"/>
                </a:solidFill>
                <a:latin typeface="Calibri"/>
                <a:ea typeface="Calibri"/>
              </a:rPr>
              <a:t>CAC payback, years</a:t>
            </a:r>
          </a:p>
        </p:txBody>
      </p:sp>
      <p:sp>
        <p:nvSpPr>
          <p:cNvPr id="100037" name="TextBox 17"/>
          <p:cNvSpPr/>
          <p:nvPr/>
        </p:nvSpPr>
        <p:spPr>
          <a:xfrm xmlns:a="http://schemas.openxmlformats.org/drawingml/2006/main">
            <a:off x="9082800" y="3744000"/>
            <a:ext cx="257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2A33C"/>
                </a:solidFill>
                <a:latin typeface="Calibri"/>
                <a:ea typeface="Calibri"/>
              </a:rPr>
              <a:t>-0.3 vs Q2</a:t>
            </a:r>
          </a:p>
        </p:txBody>
      </p:sp>
      <p:sp>
        <p:nvSpPr>
          <p:cNvPr id="100038" name="TextBox 18"/>
          <p:cNvSpPr/>
          <p:nvPr/>
        </p:nvSpPr>
        <p:spPr>
          <a:xfrm xmlns:a="http://schemas.openxmlformats.org/drawingml/2006/main">
            <a:off x="540000" y="5256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9" name="TextBox 19"/>
          <p:cNvSpPr/>
          <p:nvPr/>
        </p:nvSpPr>
        <p:spPr>
          <a:xfrm xmlns:a="http://schemas.openxmlformats.org/drawingml/2006/main">
            <a:off x="828000" y="5148000"/>
            <a:ext cx="1044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Every metric carries a period-over-period delta — replace all four cards with this quarter’s headline numbers.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0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B1F3A"/>
                </a:solidFill>
                <a:latin typeface="Cambria"/>
                <a:ea typeface="Cambria"/>
              </a:rPr>
              <a:t>Revenue vs Plan</a:t>
            </a:r>
          </a:p>
        </p:txBody>
      </p:sp>
      <p:sp>
        <p:nvSpPr>
          <p:cNvPr id="100041" name="InsightCard"/>
          <p:cNvSpPr/>
          <p:nvPr/>
        </p:nvSpPr>
        <p:spPr>
          <a:xfrm xmlns:a="http://schemas.openxmlformats.org/drawingml/2006/main">
            <a:off x="8280000" y="1296000"/>
            <a:ext cx="3373200" cy="48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2" name="TextBox 3"/>
          <p:cNvSpPr/>
          <p:nvPr/>
        </p:nvSpPr>
        <p:spPr>
          <a:xfrm xmlns:a="http://schemas.openxmlformats.org/drawingml/2006/main">
            <a:off x="8496000" y="1620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3" name="TextBox 4"/>
          <p:cNvSpPr/>
          <p:nvPr/>
        </p:nvSpPr>
        <p:spPr>
          <a:xfrm xmlns:a="http://schemas.openxmlformats.org/drawingml/2006/main">
            <a:off x="8496000" y="1872000"/>
            <a:ext cx="295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B1F3A"/>
                </a:solidFill>
                <a:latin typeface="Cambria"/>
                <a:ea typeface="Cambria"/>
              </a:rPr>
              <a:t>Key insight</a:t>
            </a:r>
          </a:p>
        </p:txBody>
      </p:sp>
      <p:sp>
        <p:nvSpPr>
          <p:cNvPr id="100044" name="TextBox 5"/>
          <p:cNvSpPr/>
          <p:nvPr/>
        </p:nvSpPr>
        <p:spPr>
          <a:xfrm xmlns:a="http://schemas.openxmlformats.org/drawingml/2006/main">
            <a:off x="8496000" y="2340000"/>
            <a:ext cx="2952000" cy="34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EMEA contributed 12pp of the 18pp beat. The gap to plan widened every month of the quarter.</a:t>
            </a:r>
          </a:p>
        </p:txBody>
      </p:sp>
      <p:graphicFrame>
        <p:nvGraphicFramePr>
          <p:cNvPr id="100045" name="RevenueChart"/>
          <p:cNvGraphicFramePr/>
          <p:nvPr/>
        </p:nvGraphicFramePr>
        <p:xfrm>
          <a:off xmlns:a="http://schemas.openxmlformats.org/drawingml/2006/main" x="540000" y="1296000"/>
          <a:ext xmlns:a="http://schemas.openxmlformats.org/drawingml/2006/main" cx="7380000" cy="4824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ee5ad0fde3447d"/>
          </a:graphicData>
        </a:graphic>
      </p:graphicFrame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6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B1F3A"/>
                </a:solidFill>
                <a:latin typeface="Cambria"/>
                <a:ea typeface="Cambria"/>
              </a:rPr>
              <a:t>Segment Results</a:t>
            </a:r>
          </a:p>
        </p:txBody>
      </p:sp>
      <p:sp>
        <p:nvSpPr>
          <p:cNvPr id="100047" name="TextBox 2"/>
          <p:cNvSpPr/>
          <p:nvPr/>
        </p:nvSpPr>
        <p:spPr>
          <a:xfrm xmlns:a="http://schemas.openxmlformats.org/drawingml/2006/main">
            <a:off x="540000" y="1548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8" name="TextBox 3"/>
          <p:cNvSpPr/>
          <p:nvPr/>
        </p:nvSpPr>
        <p:spPr>
          <a:xfrm xmlns:a="http://schemas.openxmlformats.org/drawingml/2006/main">
            <a:off x="828000" y="1440000"/>
            <a:ext cx="565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Enterprise — $38M, +24%</a:t>
            </a:r>
          </a:p>
        </p:txBody>
      </p:sp>
      <p:sp>
        <p:nvSpPr>
          <p:cNvPr id="100049" name="TextBox 4"/>
          <p:cNvSpPr/>
          <p:nvPr/>
        </p:nvSpPr>
        <p:spPr>
          <a:xfrm xmlns:a="http://schemas.openxmlformats.org/drawingml/2006/main">
            <a:off x="828000" y="1872000"/>
            <a:ext cx="5652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Driver: multi-year renewals. Action: extend the renewal playbook to mid-market.</a:t>
            </a:r>
          </a:p>
        </p:txBody>
      </p:sp>
      <p:sp>
        <p:nvSpPr>
          <p:cNvPr id="100050" name="TextBox 5"/>
          <p:cNvSpPr/>
          <p:nvPr/>
        </p:nvSpPr>
        <p:spPr>
          <a:xfrm xmlns:a="http://schemas.openxmlformats.org/drawingml/2006/main">
            <a:off x="540000" y="2988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1" name="TextBox 6"/>
          <p:cNvSpPr/>
          <p:nvPr/>
        </p:nvSpPr>
        <p:spPr>
          <a:xfrm xmlns:a="http://schemas.openxmlformats.org/drawingml/2006/main">
            <a:off x="828000" y="2880000"/>
            <a:ext cx="565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Mid-market — $29M, +11%</a:t>
            </a:r>
          </a:p>
        </p:txBody>
      </p:sp>
      <p:sp>
        <p:nvSpPr>
          <p:cNvPr id="100052" name="TextBox 7"/>
          <p:cNvSpPr/>
          <p:nvPr/>
        </p:nvSpPr>
        <p:spPr>
          <a:xfrm xmlns:a="http://schemas.openxmlformats.org/drawingml/2006/main">
            <a:off x="828000" y="3312000"/>
            <a:ext cx="5652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Driver: pricing change. Action: hold discounting at the 8% ceiling.</a:t>
            </a:r>
          </a:p>
        </p:txBody>
      </p:sp>
      <p:sp>
        <p:nvSpPr>
          <p:cNvPr id="100053" name="TextBox 8"/>
          <p:cNvSpPr/>
          <p:nvPr/>
        </p:nvSpPr>
        <p:spPr>
          <a:xfrm xmlns:a="http://schemas.openxmlformats.org/drawingml/2006/main">
            <a:off x="540000" y="4428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4" name="TextBox 9"/>
          <p:cNvSpPr/>
          <p:nvPr/>
        </p:nvSpPr>
        <p:spPr>
          <a:xfrm xmlns:a="http://schemas.openxmlformats.org/drawingml/2006/main">
            <a:off x="828000" y="4320000"/>
            <a:ext cx="565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SMB — $17M, +4%</a:t>
            </a:r>
          </a:p>
        </p:txBody>
      </p:sp>
      <p:sp>
        <p:nvSpPr>
          <p:cNvPr id="100055" name="TextBox 10"/>
          <p:cNvSpPr/>
          <p:nvPr/>
        </p:nvSpPr>
        <p:spPr>
          <a:xfrm xmlns:a="http://schemas.openxmlformats.org/drawingml/2006/main">
            <a:off x="828000" y="4752000"/>
            <a:ext cx="5652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Driver: self-serve funnel. Action: decision on paid acquisition in Q4.</a:t>
            </a:r>
          </a:p>
        </p:txBody>
      </p:sp>
      <p:graphicFrame>
        <p:nvGraphicFramePr>
          <p:cNvPr id="100056" name="SegmentChart"/>
          <p:cNvGraphicFramePr/>
          <p:nvPr/>
        </p:nvGraphicFramePr>
        <p:xfrm>
          <a:off xmlns:a="http://schemas.openxmlformats.org/drawingml/2006/main" x="6984000" y="1368000"/>
          <a:ext xmlns:a="http://schemas.openxmlformats.org/drawingml/2006/main" cx="4669200" cy="460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cacd7d17964322"/>
          </a:graphicData>
        </a:graphic>
      </p:graphicFrame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/>
      <p:sp>
        <p:nvSpPr>
          <p:cNvPr id="100057" name="TextBox 1"/>
          <p:cNvSpPr/>
          <p:nvPr/>
        </p:nvSpPr>
        <p:spPr>
          <a:xfrm xmlns:a="http://schemas.openxmlformats.org/drawingml/2006/main">
            <a:off x="7200000" y="1656000"/>
            <a:ext cx="468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22000" b="1">
                <a:solidFill>
                  <a:srgbClr val="14294D"/>
                </a:solidFill>
                <a:latin typeface="Cambria"/>
                <a:ea typeface="Cambria"/>
              </a:rPr>
              <a:t>02</a:t>
            </a:r>
          </a:p>
        </p:txBody>
      </p:sp>
      <p:sp>
        <p:nvSpPr>
          <p:cNvPr id="100058" name="TextBox 2"/>
          <p:cNvSpPr/>
          <p:nvPr/>
        </p:nvSpPr>
        <p:spPr>
          <a:xfrm xmlns:a="http://schemas.openxmlformats.org/drawingml/2006/main">
            <a:off x="900000" y="2664000"/>
            <a:ext cx="64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2A33C"/>
                </a:solidFill>
                <a:latin typeface="Consolas"/>
                <a:ea typeface="Consolas"/>
              </a:rPr>
              <a:t>SECTION 02</a:t>
            </a:r>
          </a:p>
        </p:txBody>
      </p:sp>
      <p:sp>
        <p:nvSpPr>
          <p:cNvPr id="100059" name="Title"/>
          <p:cNvSpPr/>
          <p:nvPr/>
        </p:nvSpPr>
        <p:spPr>
          <a:xfrm xmlns:a="http://schemas.openxmlformats.org/drawingml/2006/main">
            <a:off x="900000" y="3060000"/>
            <a:ext cx="720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FFFFFF"/>
                </a:solidFill>
                <a:latin typeface="Cambria"/>
                <a:ea typeface="Cambria"/>
              </a:rPr>
              <a:t>Priorities &amp; Outlook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60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B1F3A"/>
                </a:solidFill>
                <a:latin typeface="Cambria"/>
                <a:ea typeface="Cambria"/>
              </a:rPr>
              <a:t>Priorities &amp; Decisions</a:t>
            </a:r>
          </a:p>
        </p:txBody>
      </p:sp>
      <p:sp>
        <p:nvSpPr>
          <p:cNvPr id="100061" name="RowNum1"/>
          <p:cNvSpPr/>
          <p:nvPr/>
        </p:nvSpPr>
        <p:spPr>
          <a:xfrm xmlns:a="http://schemas.openxmlformats.org/drawingml/2006/main">
            <a:off x="540000" y="1422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0B1F3A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100062" name="TextBox 3"/>
          <p:cNvSpPr/>
          <p:nvPr/>
        </p:nvSpPr>
        <p:spPr>
          <a:xfrm xmlns:a="http://schemas.openxmlformats.org/drawingml/2006/main">
            <a:off x="1332000" y="1440000"/>
            <a:ext cx="75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Approve EMEA headcount plan</a:t>
            </a:r>
          </a:p>
        </p:txBody>
      </p:sp>
      <p:sp>
        <p:nvSpPr>
          <p:cNvPr id="100063" name="TextBox 4"/>
          <p:cNvSpPr/>
          <p:nvPr/>
        </p:nvSpPr>
        <p:spPr>
          <a:xfrm xmlns:a="http://schemas.openxmlformats.org/drawingml/2006/main">
            <a:off x="1332000" y="1890000"/>
            <a:ext cx="756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12 quota-carrying hires in H1; payback modeled at 14 months.</a:t>
            </a:r>
          </a:p>
        </p:txBody>
      </p:sp>
      <p:sp>
        <p:nvSpPr>
          <p:cNvPr id="100064" name="TextBox 5"/>
          <p:cNvSpPr/>
          <p:nvPr/>
        </p:nvSpPr>
        <p:spPr>
          <a:xfrm xmlns:a="http://schemas.openxmlformats.org/drawingml/2006/main">
            <a:off x="9180000" y="1440000"/>
            <a:ext cx="247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300" b="1">
                <a:solidFill>
                  <a:srgbClr val="5B6B82"/>
                </a:solidFill>
                <a:latin typeface="Consolas"/>
                <a:ea typeface="Consolas"/>
              </a:rPr>
              <a:t>J. LEE · 30 NOV</a:t>
            </a:r>
          </a:p>
        </p:txBody>
      </p:sp>
      <p:sp>
        <p:nvSpPr>
          <p:cNvPr id="100065" name="RowNum2"/>
          <p:cNvSpPr/>
          <p:nvPr/>
        </p:nvSpPr>
        <p:spPr>
          <a:xfrm xmlns:a="http://schemas.openxmlformats.org/drawingml/2006/main">
            <a:off x="540000" y="2826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0B1F3A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00066" name="TextBox 7"/>
          <p:cNvSpPr/>
          <p:nvPr/>
        </p:nvSpPr>
        <p:spPr>
          <a:xfrm xmlns:a="http://schemas.openxmlformats.org/drawingml/2006/main">
            <a:off x="1332000" y="2844000"/>
            <a:ext cx="75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FY27 pricing change</a:t>
            </a:r>
          </a:p>
        </p:txBody>
      </p:sp>
      <p:sp>
        <p:nvSpPr>
          <p:cNvPr id="100067" name="TextBox 8"/>
          <p:cNvSpPr/>
          <p:nvPr/>
        </p:nvSpPr>
        <p:spPr>
          <a:xfrm xmlns:a="http://schemas.openxmlformats.org/drawingml/2006/main">
            <a:off x="1332000" y="3294000"/>
            <a:ext cx="756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Move the SMB tier to usage-based pricing; grandfather current contracts.</a:t>
            </a:r>
          </a:p>
        </p:txBody>
      </p:sp>
      <p:sp>
        <p:nvSpPr>
          <p:cNvPr id="100068" name="TextBox 9"/>
          <p:cNvSpPr/>
          <p:nvPr/>
        </p:nvSpPr>
        <p:spPr>
          <a:xfrm xmlns:a="http://schemas.openxmlformats.org/drawingml/2006/main">
            <a:off x="9180000" y="2844000"/>
            <a:ext cx="247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300" b="1">
                <a:solidFill>
                  <a:srgbClr val="5B6B82"/>
                </a:solidFill>
                <a:latin typeface="Consolas"/>
                <a:ea typeface="Consolas"/>
              </a:rPr>
              <a:t>A. KIM · 15 DEC</a:t>
            </a:r>
          </a:p>
        </p:txBody>
      </p:sp>
      <p:sp>
        <p:nvSpPr>
          <p:cNvPr id="100069" name="RowNum3"/>
          <p:cNvSpPr/>
          <p:nvPr/>
        </p:nvSpPr>
        <p:spPr>
          <a:xfrm xmlns:a="http://schemas.openxmlformats.org/drawingml/2006/main">
            <a:off x="540000" y="4230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0B1F3A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00070" name="TextBox 11"/>
          <p:cNvSpPr/>
          <p:nvPr/>
        </p:nvSpPr>
        <p:spPr>
          <a:xfrm xmlns:a="http://schemas.openxmlformats.org/drawingml/2006/main">
            <a:off x="1332000" y="4248000"/>
            <a:ext cx="75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Support automation phase 2</a:t>
            </a:r>
          </a:p>
        </p:txBody>
      </p:sp>
      <p:sp>
        <p:nvSpPr>
          <p:cNvPr id="100071" name="TextBox 12"/>
          <p:cNvSpPr/>
          <p:nvPr/>
        </p:nvSpPr>
        <p:spPr>
          <a:xfrm xmlns:a="http://schemas.openxmlformats.org/drawingml/2006/main">
            <a:off x="1332000" y="4698000"/>
            <a:ext cx="756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Extends the margin gain by an estimated 0.8pp in FY27.</a:t>
            </a:r>
          </a:p>
        </p:txBody>
      </p:sp>
      <p:sp>
        <p:nvSpPr>
          <p:cNvPr id="100072" name="TextBox 13"/>
          <p:cNvSpPr/>
          <p:nvPr/>
        </p:nvSpPr>
        <p:spPr>
          <a:xfrm xmlns:a="http://schemas.openxmlformats.org/drawingml/2006/main">
            <a:off x="9180000" y="4248000"/>
            <a:ext cx="247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300" b="1">
                <a:solidFill>
                  <a:srgbClr val="5B6B82"/>
                </a:solidFill>
                <a:latin typeface="Consolas"/>
                <a:ea typeface="Consolas"/>
              </a:rPr>
              <a:t>R. SHAH · 31 JAN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/>
      <p:sp>
        <p:nvSpPr>
          <p:cNvPr id="100073" name="Title"/>
          <p:cNvSpPr/>
          <p:nvPr/>
        </p:nvSpPr>
        <p:spPr>
          <a:xfrm xmlns:a="http://schemas.openxmlformats.org/drawingml/2006/main">
            <a:off x="900000" y="936000"/>
            <a:ext cx="936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FFFFFF"/>
                </a:solidFill>
                <a:latin typeface="Cambria"/>
                <a:ea typeface="Cambria"/>
              </a:rPr>
              <a:t>Outlook &amp; Next Steps</a:t>
            </a:r>
          </a:p>
        </p:txBody>
      </p:sp>
      <p:sp>
        <p:nvSpPr>
          <p:cNvPr id="100074" name="TextBox 2"/>
          <p:cNvSpPr/>
          <p:nvPr/>
        </p:nvSpPr>
        <p:spPr>
          <a:xfrm xmlns:a="http://schemas.openxmlformats.org/drawingml/2006/main">
            <a:off x="900000" y="2304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5" name="TextBox 3"/>
          <p:cNvSpPr/>
          <p:nvPr/>
        </p:nvSpPr>
        <p:spPr>
          <a:xfrm xmlns:a="http://schemas.openxmlformats.org/drawingml/2006/main">
            <a:off x="1224000" y="2178000"/>
            <a:ext cx="936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Q4 guidance raised to $88-90M on EMEA momentum.</a:t>
            </a:r>
          </a:p>
        </p:txBody>
      </p:sp>
      <p:sp>
        <p:nvSpPr>
          <p:cNvPr id="100076" name="TextBox 4"/>
          <p:cNvSpPr/>
          <p:nvPr/>
        </p:nvSpPr>
        <p:spPr>
          <a:xfrm xmlns:a="http://schemas.openxmlformats.org/drawingml/2006/main">
            <a:off x="900000" y="3204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7" name="TextBox 5"/>
          <p:cNvSpPr/>
          <p:nvPr/>
        </p:nvSpPr>
        <p:spPr>
          <a:xfrm xmlns:a="http://schemas.openxmlformats.org/drawingml/2006/main">
            <a:off x="1224000" y="3078000"/>
            <a:ext cx="936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Watch item: CAC payback trend in SMB — review at the January board.</a:t>
            </a:r>
          </a:p>
        </p:txBody>
      </p:sp>
      <p:sp>
        <p:nvSpPr>
          <p:cNvPr id="100078" name="TextBox 6"/>
          <p:cNvSpPr/>
          <p:nvPr/>
        </p:nvSpPr>
        <p:spPr>
          <a:xfrm xmlns:a="http://schemas.openxmlformats.org/drawingml/2006/main">
            <a:off x="900000" y="4104000"/>
            <a:ext cx="151200" cy="15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33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9" name="TextBox 7"/>
          <p:cNvSpPr/>
          <p:nvPr/>
        </p:nvSpPr>
        <p:spPr>
          <a:xfrm xmlns:a="http://schemas.openxmlformats.org/drawingml/2006/main">
            <a:off x="1224000" y="3978000"/>
            <a:ext cx="936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FFFFFF"/>
                </a:solidFill>
                <a:latin typeface="Calibri"/>
                <a:ea typeface="Calibri"/>
              </a:rPr>
              <a:t>Decisions logged today circulate within 48 hours with owners and dates.</a:t>
            </a:r>
          </a:p>
        </p:txBody>
      </p:sp>
      <p:sp>
        <p:nvSpPr>
          <p:cNvPr id="100080" name="TextBox 8"/>
          <p:cNvSpPr/>
          <p:nvPr/>
        </p:nvSpPr>
        <p:spPr>
          <a:xfrm xmlns:a="http://schemas.openxmlformats.org/drawingml/2006/main">
            <a:off x="900000" y="5976000"/>
            <a:ext cx="9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9DB0C9"/>
                </a:solidFill>
                <a:latin typeface="Calibri"/>
                <a:ea typeface="Calibri"/>
              </a:rPr>
              <a:t>Prepared by Finance — data as of 30 September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OfficeCLI/1.0.140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2026-07-22T10:09:03Z</dcterms:created>
  <cp:lastModifiedBy>OfficeCLI</cp:lastModifiedBy>
  <dcterms:modified xsi:type="dcterms:W3CDTF">2026-07-22T10:09:03Z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1.0.140</vt:lpwstr>
  </op:property>
  <op:property fmtid="{D5CDD505-2E9C-101B-9397-08002B2CF9AE}" pid="3" name="OfficeCLI.LastModified">
    <vt:lpwstr xmlns:vt="http://schemas.openxmlformats.org/officeDocument/2006/docPropsVTypes">2026-07-22T10:09:09Z</vt:lpwstr>
  </op:property>
</op:Properties>
</file>