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698ddd8f39d34df3" /><Relationship Type="http://schemas.openxmlformats.org/package/2006/relationships/metadata/core-properties" Target="/docProps/core.xml" Id="R5e06215a2c7b400d" /><Relationship Type="http://schemas.openxmlformats.org/officeDocument/2006/relationships/extended-properties" Target="/docProps/app.xml" Id="R9b0e00919f5b40e7" /><Relationship Type="http://schemas.openxmlformats.org/officeDocument/2006/relationships/custom-properties" Target="/docProps/custom.xml" Id="Rd4446dcd656746d5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Id1"/>
  </p:sldMasterIdLst>
  <p:sldIdLst>
    <p:sldId id="256" r:id="R2b1746356e9d4c01"/>
    <p:sldId id="257" r:id="R0705b586e35045f9"/>
    <p:sldId id="258" r:id="R089f382eb6504660"/>
    <p:sldId id="259" r:id="R5a6f9fd8ced44a4f"/>
    <p:sldId id="260" r:id="Rd87f9c5b79f144f8"/>
    <p:sldId id="261" r:id="R042ee6010fea45ff"/>
    <p:sldId id="262" r:id="Ra24a877974074604"/>
    <p:sldId id="263" r:id="R67d9bf13e3b4484d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Relationship Type="http://schemas.openxmlformats.org/officeDocument/2006/relationships/theme" Target="/ppt/theme/theme1.xml" Id="rId2" /><Relationship Type="http://schemas.openxmlformats.org/officeDocument/2006/relationships/slide" Target="/ppt/slides/slide1.xml" Id="R2b1746356e9d4c01" /><Relationship Type="http://schemas.openxmlformats.org/officeDocument/2006/relationships/slide" Target="/ppt/slides/slide2.xml" Id="R0705b586e35045f9" /><Relationship Type="http://schemas.openxmlformats.org/officeDocument/2006/relationships/slide" Target="/ppt/slides/slide3.xml" Id="R089f382eb6504660" /><Relationship Type="http://schemas.openxmlformats.org/officeDocument/2006/relationships/slide" Target="/ppt/slides/slide4.xml" Id="R5a6f9fd8ced44a4f" /><Relationship Type="http://schemas.openxmlformats.org/officeDocument/2006/relationships/slide" Target="/ppt/slides/slide5.xml" Id="Rd87f9c5b79f144f8" /><Relationship Type="http://schemas.openxmlformats.org/officeDocument/2006/relationships/slide" Target="/ppt/slides/slide6.xml" Id="R042ee6010fea45ff" /><Relationship Type="http://schemas.openxmlformats.org/officeDocument/2006/relationships/slide" Target="/ppt/slides/slide7.xml" Id="Ra24a877974074604" /><Relationship Type="http://schemas.openxmlformats.org/officeDocument/2006/relationships/slide" Target="/ppt/slides/slide8.xml" Id="R67d9bf13e3b4484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Cover. Replace the month, year and company line; keep the peach corner circles and the gold bar — they are the deck signature.</a:t>
            </a:r>
          </a:p>
        </p:txBody>
      </p:sp>
    </p:spTree>
  </p:cSld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Agenda. Three sections maximum; each number matches a divider slide later in the deck.</a:t>
            </a:r>
          </a:p>
        </p:txBody>
      </p:sp>
    </p:spTree>
  </p:cSld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Section divider. Whitespace is intentional — the giant numeral matches the agenda order.</a:t>
            </a:r>
          </a:p>
        </p:txBody>
      </p:sp>
    </p:spTree>
  </p:cSld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Status board. Left rail is one box per program with a chip; keep status lines to one sentence and flag the at-risk item verbally.</a:t>
            </a:r>
          </a:p>
        </p:txBody>
      </p:sp>
    </p:spTree>
  </p:cSld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Timeline. Month pills stay fixed; move the phase bars and the WE ARE HERE marker to match the reporting month.</a:t>
            </a:r>
          </a:p>
        </p:txBody>
      </p:sp>
    </p:spTree>
  </p:cSld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Decision cards. One decision per card: the gap states the problem, the proposal is the single ask.</a:t>
            </a:r>
          </a:p>
        </p:txBody>
      </p:sp>
    </p:spTree>
  </p:cSld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Next steps. The banner carries the maturity caveat; each row names one action with a single owner and date.</a:t>
            </a:r>
          </a:p>
        </p:txBody>
      </p:sp>
    </p:spTree>
  </p:cSld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Closing. Restate the asks as plain sentences; pause here for the committee decision before ending.</a:t>
            </a:r>
          </a:p>
        </p:txBody>
      </p:sp>
    </p:spTree>
  </p:cSld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654c15b5cff48af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8fc77143a4f47ac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9e6dbac93ba4afb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c5a68248b094286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02434fe6c42467c" /></Relationships>
</file>

<file path=ppt/slideLayouts/slideLayout1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</p:sldLayout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Subtitle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3.xml><?xml version="1.0" encoding="utf-8"?>
<p:sldLayout xmlns:p="http://schemas.openxmlformats.org/presentationml/2006/main" type="objTx">
  <p:cSld name="Title and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ColTx">
  <p:cSld name="Two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 Lef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Content Right"/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5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theme" Target="/ppt/theme/theme1.xml" Id="R922402511fe9482e" /><Relationship Type="http://schemas.openxmlformats.org/officeDocument/2006/relationships/slideLayout" Target="/ppt/slideLayouts/slideLayout2.xml" Id="rId2" /><Relationship Type="http://schemas.openxmlformats.org/officeDocument/2006/relationships/slideLayout" Target="/ppt/slideLayouts/slideLayout3.xml" Id="rId3" /><Relationship Type="http://schemas.openxmlformats.org/officeDocument/2006/relationships/slideLayout" Target="/ppt/slideLayouts/slideLayout4.xml" Id="rId4" /><Relationship Type="http://schemas.openxmlformats.org/officeDocument/2006/relationships/slideLayout" Target="/ppt/slideLayouts/slideLayout5.xml" Id="rId5" /></Relationships>
</file>

<file path=ppt/slideMasters/slideMaster1.xml><?xml version="1.0" encoding="utf-8"?>
<p:sldMaster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  <p:sldLayoutId xmlns:r="http://schemas.openxmlformats.org/officeDocument/2006/relationships" id="2147483650" r:id="rId2"/>
    <p:sldLayoutId xmlns:r="http://schemas.openxmlformats.org/officeDocument/2006/relationships" id="2147483651" r:id="rId3"/>
    <p:sldLayoutId xmlns:r="http://schemas.openxmlformats.org/officeDocument/2006/relationships" id="2147483652" r:id="rId4"/>
    <p:sldLayoutId xmlns:r="http://schemas.openxmlformats.org/officeDocument/2006/relationships" id="2147483653" r:id="rId5"/>
  </p:sldLayoutIdLst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eb31fce8b7e41f5" /><Relationship Type="http://schemas.openxmlformats.org/officeDocument/2006/relationships/notesSlide" Target="/ppt/notesSlides/notesSlide1.xml" Id="R2181195006824bc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8d339e4f9884cb1" /><Relationship Type="http://schemas.openxmlformats.org/officeDocument/2006/relationships/notesSlide" Target="/ppt/notesSlides/notesSlide2.xml" Id="Rb4539e49646a4cd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609735d4a349f2" /><Relationship Type="http://schemas.openxmlformats.org/officeDocument/2006/relationships/notesSlide" Target="/ppt/notesSlides/notesSlide3.xml" Id="R3a8bbe45e8734b0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973a66ed38648fc" /><Relationship Type="http://schemas.openxmlformats.org/officeDocument/2006/relationships/notesSlide" Target="/ppt/notesSlides/notesSlide4.xml" Id="Rdd41ed1e8a514ff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f4f692b4ef4e64" /><Relationship Type="http://schemas.openxmlformats.org/officeDocument/2006/relationships/notesSlide" Target="/ppt/notesSlides/notesSlide5.xml" Id="Rb3ba69a0ef01423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03501ebdda48a1" /><Relationship Type="http://schemas.openxmlformats.org/officeDocument/2006/relationships/notesSlide" Target="/ppt/notesSlides/notesSlide6.xml" Id="Rdf788312f694450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c69dd4799c8445d" /><Relationship Type="http://schemas.openxmlformats.org/officeDocument/2006/relationships/notesSlide" Target="/ppt/notesSlides/notesSlide7.xml" Id="R9747b0ddc6fc4db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6d3cf954ce4698" /><Relationship Type="http://schemas.openxmlformats.org/officeDocument/2006/relationships/notesSlide" Target="/ppt/notesSlides/notesSlide8.xml" Id="Rb1ec4c18d4234f7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100000" name="PeachCircleLarge"/>
          <p:cNvSpPr/>
          <p:nvPr/>
        </p:nvSpPr>
        <p:spPr>
          <a:xfrm xmlns:a="http://schemas.openxmlformats.org/drawingml/2006/main">
            <a:off x="9324000" y="-2232000"/>
            <a:ext cx="5040000" cy="5040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DE4D8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01" name="PeachCircleSmall"/>
          <p:cNvSpPr/>
          <p:nvPr/>
        </p:nvSpPr>
        <p:spPr>
          <a:xfrm xmlns:a="http://schemas.openxmlformats.org/drawingml/2006/main">
            <a:off x="8388000" y="-936000"/>
            <a:ext cx="2880000" cy="2880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DE4D8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02" name="TextBox 3"/>
          <p:cNvSpPr/>
          <p:nvPr/>
        </p:nvSpPr>
        <p:spPr>
          <a:xfrm xmlns:a="http://schemas.openxmlformats.org/drawingml/2006/main">
            <a:off x="10260000" y="288000"/>
            <a:ext cx="1393200" cy="25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/>
            <a:r>
              <a:rPr lang="en-US" sz="1000">
                <a:solidFill>
                  <a:srgbClr val="5B6B82"/>
                </a:solidFill>
                <a:latin typeface="Consolas"/>
                <a:ea typeface="Consolas"/>
              </a:rPr>
              <a:t>[COMPANY LOGO]</a:t>
            </a:r>
          </a:p>
        </p:txBody>
      </p:sp>
      <p:sp>
        <p:nvSpPr>
          <p:cNvPr id="100003" name="TextBox 4"/>
          <p:cNvSpPr/>
          <p:nvPr/>
        </p:nvSpPr>
        <p:spPr>
          <a:xfrm xmlns:a="http://schemas.openxmlformats.org/drawingml/2006/main">
            <a:off x="900000" y="2016000"/>
            <a:ext cx="7200000" cy="28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1300" b="1">
                <a:solidFill>
                  <a:srgbClr val="F1592A"/>
                </a:solidFill>
                <a:latin typeface="Consolas"/>
                <a:ea typeface="Consolas"/>
              </a:rPr>
              <a:t>TRANSFORMATION OFFICE</a:t>
            </a:r>
          </a:p>
        </p:txBody>
      </p:sp>
      <p:sp>
        <p:nvSpPr>
          <p:cNvPr id="100004" name="Title"/>
          <p:cNvSpPr/>
          <p:nvPr/>
        </p:nvSpPr>
        <p:spPr>
          <a:xfrm xmlns:a="http://schemas.openxmlformats.org/drawingml/2006/main">
            <a:off x="900000" y="2376000"/>
            <a:ext cx="9360000" cy="9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4400" b="1">
                <a:solidFill>
                  <a:srgbClr val="122B45"/>
                </a:solidFill>
                <a:latin typeface="Cambria"/>
                <a:ea typeface="Cambria"/>
              </a:rPr>
              <a:t>Monthly SteerCo</a:t>
            </a:r>
          </a:p>
        </p:txBody>
      </p:sp>
      <p:sp>
        <p:nvSpPr>
          <p:cNvPr id="100005" name="TextBox 6"/>
          <p:cNvSpPr/>
          <p:nvPr/>
        </p:nvSpPr>
        <p:spPr>
          <a:xfrm xmlns:a="http://schemas.openxmlformats.org/drawingml/2006/main">
            <a:off x="900000" y="3294000"/>
            <a:ext cx="1260000" cy="43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A227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06" name="TextBox 7"/>
          <p:cNvSpPr/>
          <p:nvPr/>
        </p:nvSpPr>
        <p:spPr>
          <a:xfrm xmlns:a="http://schemas.openxmlformats.org/drawingml/2006/main">
            <a:off x="900000" y="3492000"/>
            <a:ext cx="8640000" cy="43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2000" b="1">
                <a:solidFill>
                  <a:srgbClr val="1F2933"/>
                </a:solidFill>
                <a:latin typeface="Calibri"/>
                <a:ea typeface="Calibri"/>
              </a:rPr>
              <a:t>June — [Month, Year]</a:t>
            </a:r>
          </a:p>
        </p:txBody>
      </p:sp>
      <p:sp>
        <p:nvSpPr>
          <p:cNvPr id="100007" name="TextBox 8"/>
          <p:cNvSpPr/>
          <p:nvPr/>
        </p:nvSpPr>
        <p:spPr>
          <a:xfrm xmlns:a="http://schemas.openxmlformats.org/drawingml/2006/main">
            <a:off x="900000" y="3996000"/>
            <a:ext cx="8640000" cy="39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5B6B82"/>
                </a:solidFill>
                <a:latin typeface="Calibri"/>
                <a:ea typeface="Calibri"/>
              </a:rPr>
              <a:t>Meridian Group · Portfolio Update</a:t>
            </a:r>
          </a:p>
        </p:txBody>
      </p:sp>
    </p:spTree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100008" name="Title"/>
          <p:cNvSpPr/>
          <p:nvPr/>
        </p:nvSpPr>
        <p:spPr>
          <a:xfrm xmlns:a="http://schemas.openxmlformats.org/drawingml/2006/main">
            <a:off x="540000" y="396000"/>
            <a:ext cx="11113200" cy="68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122B45"/>
                </a:solidFill>
                <a:latin typeface="Cambria"/>
                <a:ea typeface="Cambria"/>
              </a:rPr>
              <a:t>Agenda</a:t>
            </a:r>
          </a:p>
        </p:txBody>
      </p:sp>
      <p:sp>
        <p:nvSpPr>
          <p:cNvPr id="100009" name="TextBox 2"/>
          <p:cNvSpPr/>
          <p:nvPr/>
        </p:nvSpPr>
        <p:spPr>
          <a:xfrm xmlns:a="http://schemas.openxmlformats.org/drawingml/2006/main">
            <a:off x="540000" y="1098000"/>
            <a:ext cx="1260000" cy="43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A227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10" name="TextBox 3"/>
          <p:cNvSpPr/>
          <p:nvPr/>
        </p:nvSpPr>
        <p:spPr>
          <a:xfrm xmlns:a="http://schemas.openxmlformats.org/drawingml/2006/main">
            <a:off x="540000" y="1728000"/>
            <a:ext cx="972000" cy="50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22B45"/>
                </a:solidFill>
                <a:latin typeface="Cambria"/>
                <a:ea typeface="Cambria"/>
              </a:rPr>
              <a:t>01.</a:t>
            </a:r>
          </a:p>
        </p:txBody>
      </p:sp>
      <p:sp>
        <p:nvSpPr>
          <p:cNvPr id="100011" name="TextBox 4"/>
          <p:cNvSpPr/>
          <p:nvPr/>
        </p:nvSpPr>
        <p:spPr>
          <a:xfrm xmlns:a="http://schemas.openxmlformats.org/drawingml/2006/main">
            <a:off x="1656000" y="1782000"/>
            <a:ext cx="9360000" cy="43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2000" b="1">
                <a:solidFill>
                  <a:srgbClr val="1F2933"/>
                </a:solidFill>
                <a:latin typeface="Calibri"/>
                <a:ea typeface="Calibri"/>
              </a:rPr>
              <a:t>Aurora Program &amp; Platform Update</a:t>
            </a:r>
          </a:p>
        </p:txBody>
      </p:sp>
      <p:sp>
        <p:nvSpPr>
          <p:cNvPr id="100012" name="TextBox 5"/>
          <p:cNvSpPr/>
          <p:nvPr/>
        </p:nvSpPr>
        <p:spPr>
          <a:xfrm xmlns:a="http://schemas.openxmlformats.org/drawingml/2006/main">
            <a:off x="1656000" y="2232000"/>
            <a:ext cx="9360000" cy="39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5B6B82"/>
                </a:solidFill>
                <a:latin typeface="Calibri"/>
                <a:ea typeface="Calibri"/>
              </a:rPr>
              <a:t>Where the rollout stands and what changed since last month.</a:t>
            </a:r>
          </a:p>
        </p:txBody>
      </p:sp>
      <p:sp>
        <p:nvSpPr>
          <p:cNvPr id="100013" name="TextBox 6"/>
          <p:cNvSpPr/>
          <p:nvPr/>
        </p:nvSpPr>
        <p:spPr>
          <a:xfrm xmlns:a="http://schemas.openxmlformats.org/drawingml/2006/main">
            <a:off x="540000" y="3204000"/>
            <a:ext cx="972000" cy="50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22B45"/>
                </a:solidFill>
                <a:latin typeface="Cambria"/>
                <a:ea typeface="Cambria"/>
              </a:rPr>
              <a:t>02.</a:t>
            </a:r>
          </a:p>
        </p:txBody>
      </p:sp>
      <p:sp>
        <p:nvSpPr>
          <p:cNvPr id="100014" name="TextBox 7"/>
          <p:cNvSpPr/>
          <p:nvPr/>
        </p:nvSpPr>
        <p:spPr>
          <a:xfrm xmlns:a="http://schemas.openxmlformats.org/drawingml/2006/main">
            <a:off x="1656000" y="3258000"/>
            <a:ext cx="9360000" cy="43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2000" b="1">
                <a:solidFill>
                  <a:srgbClr val="1F2933"/>
                </a:solidFill>
                <a:latin typeface="Calibri"/>
                <a:ea typeface="Calibri"/>
              </a:rPr>
              <a:t>Budget &amp; Vendor Decisions</a:t>
            </a:r>
          </a:p>
        </p:txBody>
      </p:sp>
      <p:sp>
        <p:nvSpPr>
          <p:cNvPr id="100015" name="TextBox 8"/>
          <p:cNvSpPr/>
          <p:nvPr/>
        </p:nvSpPr>
        <p:spPr>
          <a:xfrm xmlns:a="http://schemas.openxmlformats.org/drawingml/2006/main">
            <a:off x="1656000" y="3708000"/>
            <a:ext cx="9360000" cy="39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5B6B82"/>
                </a:solidFill>
                <a:latin typeface="Calibri"/>
                <a:ea typeface="Calibri"/>
              </a:rPr>
              <a:t>Two approvals needed to keep the second-half plan on schedule.</a:t>
            </a:r>
          </a:p>
        </p:txBody>
      </p:sp>
      <p:sp>
        <p:nvSpPr>
          <p:cNvPr id="100016" name="TextBox 9"/>
          <p:cNvSpPr/>
          <p:nvPr/>
        </p:nvSpPr>
        <p:spPr>
          <a:xfrm xmlns:a="http://schemas.openxmlformats.org/drawingml/2006/main">
            <a:off x="540000" y="4680000"/>
            <a:ext cx="972000" cy="50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22B45"/>
                </a:solidFill>
                <a:latin typeface="Cambria"/>
                <a:ea typeface="Cambria"/>
              </a:rPr>
              <a:t>03.</a:t>
            </a:r>
          </a:p>
        </p:txBody>
      </p:sp>
      <p:sp>
        <p:nvSpPr>
          <p:cNvPr id="100017" name="TextBox 10"/>
          <p:cNvSpPr/>
          <p:nvPr/>
        </p:nvSpPr>
        <p:spPr>
          <a:xfrm xmlns:a="http://schemas.openxmlformats.org/drawingml/2006/main">
            <a:off x="1656000" y="4734000"/>
            <a:ext cx="9360000" cy="43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2000" b="1">
                <a:solidFill>
                  <a:srgbClr val="1F2933"/>
                </a:solidFill>
                <a:latin typeface="Calibri"/>
                <a:ea typeface="Calibri"/>
              </a:rPr>
              <a:t>Risks and Asks</a:t>
            </a:r>
          </a:p>
        </p:txBody>
      </p:sp>
      <p:sp>
        <p:nvSpPr>
          <p:cNvPr id="100018" name="TextBox 11"/>
          <p:cNvSpPr/>
          <p:nvPr/>
        </p:nvSpPr>
        <p:spPr>
          <a:xfrm xmlns:a="http://schemas.openxmlformats.org/drawingml/2006/main">
            <a:off x="1656000" y="5184000"/>
            <a:ext cx="9360000" cy="39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5B6B82"/>
                </a:solidFill>
                <a:latin typeface="Calibri"/>
                <a:ea typeface="Calibri"/>
              </a:rPr>
              <a:t>Open risks with owners, and what we need from this committee.</a:t>
            </a:r>
          </a:p>
        </p:txBody>
      </p:sp>
    </p:spTree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100019" name="TextBox 1"/>
          <p:cNvSpPr/>
          <p:nvPr/>
        </p:nvSpPr>
        <p:spPr>
          <a:xfrm xmlns:a="http://schemas.openxmlformats.org/drawingml/2006/main">
            <a:off x="10260000" y="288000"/>
            <a:ext cx="1393200" cy="25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/>
            <a:r>
              <a:rPr lang="en-US" sz="1000">
                <a:solidFill>
                  <a:srgbClr val="5B6B82"/>
                </a:solidFill>
                <a:latin typeface="Consolas"/>
                <a:ea typeface="Consolas"/>
              </a:rPr>
              <a:t>[COMPANY LOGO]</a:t>
            </a:r>
          </a:p>
        </p:txBody>
      </p:sp>
      <p:sp>
        <p:nvSpPr>
          <p:cNvPr id="100020" name="TextBox 2"/>
          <p:cNvSpPr/>
          <p:nvPr/>
        </p:nvSpPr>
        <p:spPr>
          <a:xfrm xmlns:a="http://schemas.openxmlformats.org/drawingml/2006/main">
            <a:off x="900000" y="1152000"/>
            <a:ext cx="7200000" cy="28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1300" b="1">
                <a:solidFill>
                  <a:srgbClr val="F1592A"/>
                </a:solidFill>
                <a:latin typeface="Consolas"/>
                <a:ea typeface="Consolas"/>
              </a:rPr>
              <a:t>SECTION</a:t>
            </a:r>
          </a:p>
        </p:txBody>
      </p:sp>
      <p:sp>
        <p:nvSpPr>
          <p:cNvPr id="100021" name="TextBox 3"/>
          <p:cNvSpPr/>
          <p:nvPr/>
        </p:nvSpPr>
        <p:spPr>
          <a:xfrm xmlns:a="http://schemas.openxmlformats.org/drawingml/2006/main">
            <a:off x="828000" y="1476000"/>
            <a:ext cx="5400000" cy="277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17000" b="1">
                <a:solidFill>
                  <a:srgbClr val="122B45"/>
                </a:solidFill>
                <a:latin typeface="Cambria"/>
                <a:ea typeface="Cambria"/>
              </a:rPr>
              <a:t>01.</a:t>
            </a:r>
          </a:p>
        </p:txBody>
      </p:sp>
      <p:sp>
        <p:nvSpPr>
          <p:cNvPr id="100022" name="TextBox 4"/>
          <p:cNvSpPr/>
          <p:nvPr/>
        </p:nvSpPr>
        <p:spPr>
          <a:xfrm xmlns:a="http://schemas.openxmlformats.org/drawingml/2006/main">
            <a:off x="900000" y="4428000"/>
            <a:ext cx="1260000" cy="43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A227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23" name="Title"/>
          <p:cNvSpPr/>
          <p:nvPr/>
        </p:nvSpPr>
        <p:spPr>
          <a:xfrm xmlns:a="http://schemas.openxmlformats.org/drawingml/2006/main">
            <a:off x="900000" y="4644000"/>
            <a:ext cx="9360000" cy="6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3200" b="1">
                <a:solidFill>
                  <a:srgbClr val="122B45"/>
                </a:solidFill>
                <a:latin typeface="Cambria"/>
                <a:ea typeface="Cambria"/>
              </a:rPr>
              <a:t>Aurora Program &amp; Platform Update</a:t>
            </a:r>
          </a:p>
        </p:txBody>
      </p:sp>
    </p:spTree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100024" name="Title"/>
          <p:cNvSpPr/>
          <p:nvPr/>
        </p:nvSpPr>
        <p:spPr>
          <a:xfrm xmlns:a="http://schemas.openxmlformats.org/drawingml/2006/main">
            <a:off x="540000" y="396000"/>
            <a:ext cx="11113200" cy="68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122B45"/>
                </a:solidFill>
                <a:latin typeface="Cambria"/>
                <a:ea typeface="Cambria"/>
              </a:rPr>
              <a:t>Program status — [period]</a:t>
            </a:r>
          </a:p>
        </p:txBody>
      </p:sp>
      <p:sp>
        <p:nvSpPr>
          <p:cNvPr id="100025" name="TextBox 2"/>
          <p:cNvSpPr/>
          <p:nvPr/>
        </p:nvSpPr>
        <p:spPr>
          <a:xfrm xmlns:a="http://schemas.openxmlformats.org/drawingml/2006/main">
            <a:off x="540000" y="1098000"/>
            <a:ext cx="1260000" cy="43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A227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26" name="Program1"/>
          <p:cNvSpPr/>
          <p:nvPr/>
        </p:nvSpPr>
        <p:spPr>
          <a:xfrm xmlns:a="http://schemas.openxmlformats.org/drawingml/2006/main">
            <a:off x="540000" y="1584000"/>
            <a:ext cx="2340000" cy="1224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22B45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27" name="TextBox 4"/>
          <p:cNvSpPr/>
          <p:nvPr/>
        </p:nvSpPr>
        <p:spPr>
          <a:xfrm xmlns:a="http://schemas.openxmlformats.org/drawingml/2006/main">
            <a:off x="756000" y="1764000"/>
            <a:ext cx="1908000" cy="39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1600" b="1">
                <a:solidFill>
                  <a:srgbClr val="FFFFFF"/>
                </a:solidFill>
                <a:latin typeface="Calibri"/>
                <a:ea typeface="Calibri"/>
              </a:rPr>
              <a:t>Aurora Rollout</a:t>
            </a:r>
          </a:p>
        </p:txBody>
      </p:sp>
      <p:sp>
        <p:nvSpPr>
          <p:cNvPr id="100028" name="TextBox 5"/>
          <p:cNvSpPr/>
          <p:nvPr/>
        </p:nvSpPr>
        <p:spPr>
          <a:xfrm xmlns:a="http://schemas.openxmlformats.org/drawingml/2006/main">
            <a:off x="756000" y="2304000"/>
            <a:ext cx="1080000" cy="324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0A651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1200" b="1">
                <a:solidFill>
                  <a:srgbClr val="FFFFFF"/>
                </a:solidFill>
                <a:latin typeface="Calibri"/>
                <a:ea typeface="Calibri"/>
              </a:rPr>
              <a:t>On track</a:t>
            </a:r>
          </a:p>
        </p:txBody>
      </p:sp>
      <p:sp>
        <p:nvSpPr>
          <p:cNvPr id="100029" name="TextBox 6"/>
          <p:cNvSpPr/>
          <p:nvPr/>
        </p:nvSpPr>
        <p:spPr>
          <a:xfrm xmlns:a="http://schemas.openxmlformats.org/drawingml/2006/main">
            <a:off x="3168000" y="1764000"/>
            <a:ext cx="4968000" cy="93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1F2933"/>
                </a:solidFill>
                <a:latin typeface="Calibri"/>
                <a:ea typeface="Calibri"/>
              </a:rPr>
              <a:t>Rollout live at 68% of sites; wave four starts next week with no open blockers.</a:t>
            </a:r>
          </a:p>
        </p:txBody>
      </p:sp>
      <p:sp>
        <p:nvSpPr>
          <p:cNvPr id="100030" name="Program2"/>
          <p:cNvSpPr/>
          <p:nvPr/>
        </p:nvSpPr>
        <p:spPr>
          <a:xfrm xmlns:a="http://schemas.openxmlformats.org/drawingml/2006/main">
            <a:off x="540000" y="3096000"/>
            <a:ext cx="2340000" cy="1224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22B45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31" name="TextBox 8"/>
          <p:cNvSpPr/>
          <p:nvPr/>
        </p:nvSpPr>
        <p:spPr>
          <a:xfrm xmlns:a="http://schemas.openxmlformats.org/drawingml/2006/main">
            <a:off x="756000" y="3276000"/>
            <a:ext cx="1908000" cy="39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1600" b="1">
                <a:solidFill>
                  <a:srgbClr val="FFFFFF"/>
                </a:solidFill>
                <a:latin typeface="Calibri"/>
                <a:ea typeface="Calibri"/>
              </a:rPr>
              <a:t>Data Platform</a:t>
            </a:r>
          </a:p>
        </p:txBody>
      </p:sp>
      <p:sp>
        <p:nvSpPr>
          <p:cNvPr id="100032" name="TextBox 9"/>
          <p:cNvSpPr/>
          <p:nvPr/>
        </p:nvSpPr>
        <p:spPr>
          <a:xfrm xmlns:a="http://schemas.openxmlformats.org/drawingml/2006/main">
            <a:off x="756000" y="3816000"/>
            <a:ext cx="1080000" cy="324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0A651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1200" b="1">
                <a:solidFill>
                  <a:srgbClr val="FFFFFF"/>
                </a:solidFill>
                <a:latin typeface="Calibri"/>
                <a:ea typeface="Calibri"/>
              </a:rPr>
              <a:t>On track</a:t>
            </a:r>
          </a:p>
        </p:txBody>
      </p:sp>
      <p:sp>
        <p:nvSpPr>
          <p:cNvPr id="100033" name="TextBox 10"/>
          <p:cNvSpPr/>
          <p:nvPr/>
        </p:nvSpPr>
        <p:spPr>
          <a:xfrm xmlns:a="http://schemas.openxmlformats.org/drawingml/2006/main">
            <a:off x="3168000" y="3276000"/>
            <a:ext cx="4968000" cy="93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1F2933"/>
                </a:solidFill>
                <a:latin typeface="Calibri"/>
                <a:ea typeface="Calibri"/>
              </a:rPr>
              <a:t>Ingestion layer shipped; reporting migration holds to the July cutover date.</a:t>
            </a:r>
          </a:p>
        </p:txBody>
      </p:sp>
      <p:sp>
        <p:nvSpPr>
          <p:cNvPr id="100034" name="Program3"/>
          <p:cNvSpPr/>
          <p:nvPr/>
        </p:nvSpPr>
        <p:spPr>
          <a:xfrm xmlns:a="http://schemas.openxmlformats.org/drawingml/2006/main">
            <a:off x="540000" y="4608000"/>
            <a:ext cx="2340000" cy="1224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22B45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35" name="TextBox 12"/>
          <p:cNvSpPr/>
          <p:nvPr/>
        </p:nvSpPr>
        <p:spPr>
          <a:xfrm xmlns:a="http://schemas.openxmlformats.org/drawingml/2006/main">
            <a:off x="756000" y="4788000"/>
            <a:ext cx="1908000" cy="39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1600" b="1">
                <a:solidFill>
                  <a:srgbClr val="FFFFFF"/>
                </a:solidFill>
                <a:latin typeface="Calibri"/>
                <a:ea typeface="Calibri"/>
              </a:rPr>
              <a:t>Service Desk AI</a:t>
            </a:r>
          </a:p>
        </p:txBody>
      </p:sp>
      <p:sp>
        <p:nvSpPr>
          <p:cNvPr id="100036" name="TextBox 13"/>
          <p:cNvSpPr/>
          <p:nvPr/>
        </p:nvSpPr>
        <p:spPr>
          <a:xfrm xmlns:a="http://schemas.openxmlformats.org/drawingml/2006/main">
            <a:off x="756000" y="5328000"/>
            <a:ext cx="1080000" cy="324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D7282F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1200" b="1">
                <a:solidFill>
                  <a:srgbClr val="FFFFFF"/>
                </a:solidFill>
                <a:latin typeface="Calibri"/>
                <a:ea typeface="Calibri"/>
              </a:rPr>
              <a:t>At risk</a:t>
            </a:r>
          </a:p>
        </p:txBody>
      </p:sp>
      <p:sp>
        <p:nvSpPr>
          <p:cNvPr id="100037" name="TextBox 14"/>
          <p:cNvSpPr/>
          <p:nvPr/>
        </p:nvSpPr>
        <p:spPr>
          <a:xfrm xmlns:a="http://schemas.openxmlformats.org/drawingml/2006/main">
            <a:off x="3168000" y="4788000"/>
            <a:ext cx="4968000" cy="93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1F2933"/>
                </a:solidFill>
                <a:latin typeface="Calibri"/>
                <a:ea typeface="Calibri"/>
              </a:rPr>
              <a:t>Pilot accuracy is below target; the vendor fix lands mid-July — watch item.</a:t>
            </a:r>
          </a:p>
        </p:txBody>
      </p:sp>
      <p:sp>
        <p:nvSpPr>
          <p:cNvPr id="100038" name="DeliverablesPanel"/>
          <p:cNvSpPr/>
          <p:nvPr/>
        </p:nvSpPr>
        <p:spPr>
          <a:xfrm xmlns:a="http://schemas.openxmlformats.org/drawingml/2006/main">
            <a:off x="8593200" y="1584000"/>
            <a:ext cx="3060000" cy="4248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BF0E7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39" name="TextBox 16"/>
          <p:cNvSpPr/>
          <p:nvPr/>
        </p:nvSpPr>
        <p:spPr>
          <a:xfrm xmlns:a="http://schemas.openxmlformats.org/drawingml/2006/main">
            <a:off x="8856000" y="1872000"/>
            <a:ext cx="2556000" cy="28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F1592A"/>
                </a:solidFill>
                <a:latin typeface="Consolas"/>
                <a:ea typeface="Consolas"/>
              </a:rPr>
              <a:t>KEY DELIVERABLES</a:t>
            </a:r>
          </a:p>
        </p:txBody>
      </p:sp>
      <p:sp>
        <p:nvSpPr>
          <p:cNvPr id="100040" name="TextBox 17"/>
          <p:cNvSpPr/>
          <p:nvPr/>
        </p:nvSpPr>
        <p:spPr>
          <a:xfrm xmlns:a="http://schemas.openxmlformats.org/drawingml/2006/main">
            <a:off x="8856000" y="2412000"/>
            <a:ext cx="288000" cy="288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0A651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1200" b="1">
                <a:solidFill>
                  <a:srgbClr val="FFFFFF"/>
                </a:solidFill>
                <a:latin typeface="Calibri"/>
                <a:ea typeface="Calibri"/>
              </a:rPr>
              <a:t>✓</a:t>
            </a:r>
          </a:p>
        </p:txBody>
      </p:sp>
      <p:sp>
        <p:nvSpPr>
          <p:cNvPr id="100041" name="TextBox 18"/>
          <p:cNvSpPr/>
          <p:nvPr/>
        </p:nvSpPr>
        <p:spPr>
          <a:xfrm xmlns:a="http://schemas.openxmlformats.org/drawingml/2006/main">
            <a:off x="9252000" y="2394000"/>
            <a:ext cx="2268000" cy="57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1500">
                <a:solidFill>
                  <a:srgbClr val="1F2933"/>
                </a:solidFill>
                <a:latin typeface="Calibri"/>
                <a:ea typeface="Calibri"/>
              </a:rPr>
              <a:t>Wave three go-live completed</a:t>
            </a:r>
          </a:p>
        </p:txBody>
      </p:sp>
      <p:sp>
        <p:nvSpPr>
          <p:cNvPr id="100042" name="TextBox 19"/>
          <p:cNvSpPr/>
          <p:nvPr/>
        </p:nvSpPr>
        <p:spPr>
          <a:xfrm xmlns:a="http://schemas.openxmlformats.org/drawingml/2006/main">
            <a:off x="8856000" y="3348000"/>
            <a:ext cx="288000" cy="288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0A651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1200" b="1">
                <a:solidFill>
                  <a:srgbClr val="FFFFFF"/>
                </a:solidFill>
                <a:latin typeface="Calibri"/>
                <a:ea typeface="Calibri"/>
              </a:rPr>
              <a:t>✓</a:t>
            </a:r>
          </a:p>
        </p:txBody>
      </p:sp>
      <p:sp>
        <p:nvSpPr>
          <p:cNvPr id="100043" name="TextBox 20"/>
          <p:cNvSpPr/>
          <p:nvPr/>
        </p:nvSpPr>
        <p:spPr>
          <a:xfrm xmlns:a="http://schemas.openxmlformats.org/drawingml/2006/main">
            <a:off x="9252000" y="3330000"/>
            <a:ext cx="2268000" cy="57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1500">
                <a:solidFill>
                  <a:srgbClr val="1F2933"/>
                </a:solidFill>
                <a:latin typeface="Calibri"/>
                <a:ea typeface="Calibri"/>
              </a:rPr>
              <a:t>Vendor statement of work signed</a:t>
            </a:r>
          </a:p>
        </p:txBody>
      </p:sp>
      <p:sp>
        <p:nvSpPr>
          <p:cNvPr id="100044" name="TextBox 21"/>
          <p:cNvSpPr/>
          <p:nvPr/>
        </p:nvSpPr>
        <p:spPr>
          <a:xfrm xmlns:a="http://schemas.openxmlformats.org/drawingml/2006/main">
            <a:off x="8856000" y="4284000"/>
            <a:ext cx="288000" cy="288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0A651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1200" b="1">
                <a:solidFill>
                  <a:srgbClr val="FFFFFF"/>
                </a:solidFill>
                <a:latin typeface="Calibri"/>
                <a:ea typeface="Calibri"/>
              </a:rPr>
              <a:t>✓</a:t>
            </a:r>
          </a:p>
        </p:txBody>
      </p:sp>
      <p:sp>
        <p:nvSpPr>
          <p:cNvPr id="100045" name="TextBox 22"/>
          <p:cNvSpPr/>
          <p:nvPr/>
        </p:nvSpPr>
        <p:spPr>
          <a:xfrm xmlns:a="http://schemas.openxmlformats.org/drawingml/2006/main">
            <a:off x="9252000" y="4266000"/>
            <a:ext cx="2268000" cy="57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1500">
                <a:solidFill>
                  <a:srgbClr val="1F2933"/>
                </a:solidFill>
                <a:latin typeface="Calibri"/>
                <a:ea typeface="Calibri"/>
              </a:rPr>
              <a:t>Data quality dashboard shipped</a:t>
            </a:r>
          </a:p>
        </p:txBody>
      </p:sp>
    </p:spTree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100046" name="Title"/>
          <p:cNvSpPr/>
          <p:nvPr/>
        </p:nvSpPr>
        <p:spPr>
          <a:xfrm xmlns:a="http://schemas.openxmlformats.org/drawingml/2006/main">
            <a:off x="540000" y="396000"/>
            <a:ext cx="11113200" cy="68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122B45"/>
                </a:solidFill>
                <a:latin typeface="Cambria"/>
                <a:ea typeface="Cambria"/>
              </a:rPr>
              <a:t>Delivery timeline</a:t>
            </a:r>
          </a:p>
        </p:txBody>
      </p:sp>
      <p:sp>
        <p:nvSpPr>
          <p:cNvPr id="100047" name="TextBox 2"/>
          <p:cNvSpPr/>
          <p:nvPr/>
        </p:nvSpPr>
        <p:spPr>
          <a:xfrm xmlns:a="http://schemas.openxmlformats.org/drawingml/2006/main">
            <a:off x="540000" y="1098000"/>
            <a:ext cx="1260000" cy="43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A227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48" name="TextBox 3"/>
          <p:cNvSpPr/>
          <p:nvPr/>
        </p:nvSpPr>
        <p:spPr>
          <a:xfrm xmlns:a="http://schemas.openxmlformats.org/drawingml/2006/main">
            <a:off x="540000" y="2016000"/>
            <a:ext cx="2005200" cy="432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D7282F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1400" b="1">
                <a:solidFill>
                  <a:srgbClr val="FFFFFF"/>
                </a:solidFill>
                <a:latin typeface="Calibri"/>
                <a:ea typeface="Calibri"/>
              </a:rPr>
              <a:t>Feb</a:t>
            </a:r>
          </a:p>
        </p:txBody>
      </p:sp>
      <p:sp>
        <p:nvSpPr>
          <p:cNvPr id="100049" name="TextBox 4"/>
          <p:cNvSpPr/>
          <p:nvPr/>
        </p:nvSpPr>
        <p:spPr>
          <a:xfrm xmlns:a="http://schemas.openxmlformats.org/drawingml/2006/main">
            <a:off x="2818800" y="2016000"/>
            <a:ext cx="2005200" cy="432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D7282F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1400" b="1">
                <a:solidFill>
                  <a:srgbClr val="FFFFFF"/>
                </a:solidFill>
                <a:latin typeface="Calibri"/>
                <a:ea typeface="Calibri"/>
              </a:rPr>
              <a:t>Mar</a:t>
            </a:r>
          </a:p>
        </p:txBody>
      </p:sp>
      <p:sp>
        <p:nvSpPr>
          <p:cNvPr id="100050" name="TextBox 5"/>
          <p:cNvSpPr/>
          <p:nvPr/>
        </p:nvSpPr>
        <p:spPr>
          <a:xfrm xmlns:a="http://schemas.openxmlformats.org/drawingml/2006/main">
            <a:off x="5097600" y="2016000"/>
            <a:ext cx="2005200" cy="432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D7282F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1400" b="1">
                <a:solidFill>
                  <a:srgbClr val="FFFFFF"/>
                </a:solidFill>
                <a:latin typeface="Calibri"/>
                <a:ea typeface="Calibri"/>
              </a:rPr>
              <a:t>Apr</a:t>
            </a:r>
          </a:p>
        </p:txBody>
      </p:sp>
      <p:sp>
        <p:nvSpPr>
          <p:cNvPr id="100051" name="TextBox 6"/>
          <p:cNvSpPr/>
          <p:nvPr/>
        </p:nvSpPr>
        <p:spPr>
          <a:xfrm xmlns:a="http://schemas.openxmlformats.org/drawingml/2006/main">
            <a:off x="7376400" y="2016000"/>
            <a:ext cx="2005200" cy="432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D7282F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1400" b="1">
                <a:solidFill>
                  <a:srgbClr val="FFFFFF"/>
                </a:solidFill>
                <a:latin typeface="Calibri"/>
                <a:ea typeface="Calibri"/>
              </a:rPr>
              <a:t>May</a:t>
            </a:r>
          </a:p>
        </p:txBody>
      </p:sp>
      <p:sp>
        <p:nvSpPr>
          <p:cNvPr id="100052" name="TextBox 7"/>
          <p:cNvSpPr/>
          <p:nvPr/>
        </p:nvSpPr>
        <p:spPr>
          <a:xfrm xmlns:a="http://schemas.openxmlformats.org/drawingml/2006/main">
            <a:off x="9655200" y="2016000"/>
            <a:ext cx="2005200" cy="432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D7282F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1400" b="1">
                <a:solidFill>
                  <a:srgbClr val="FFFFFF"/>
                </a:solidFill>
                <a:latin typeface="Calibri"/>
                <a:ea typeface="Calibri"/>
              </a:rPr>
              <a:t>Jun</a:t>
            </a:r>
          </a:p>
        </p:txBody>
      </p:sp>
      <p:sp>
        <p:nvSpPr>
          <p:cNvPr id="100053" name="TextBox 8"/>
          <p:cNvSpPr/>
          <p:nvPr/>
        </p:nvSpPr>
        <p:spPr>
          <a:xfrm xmlns:a="http://schemas.openxmlformats.org/drawingml/2006/main">
            <a:off x="540000" y="2880000"/>
            <a:ext cx="4284000" cy="54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BF0E7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54" name="TextBox 9"/>
          <p:cNvSpPr/>
          <p:nvPr/>
        </p:nvSpPr>
        <p:spPr>
          <a:xfrm xmlns:a="http://schemas.openxmlformats.org/drawingml/2006/main">
            <a:off x="756000" y="2880000"/>
            <a:ext cx="3852000" cy="5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rPr lang="en-US" sz="1400">
                <a:solidFill>
                  <a:srgbClr val="1F2933"/>
                </a:solidFill>
                <a:latin typeface="Calibri"/>
                <a:ea typeface="Calibri"/>
              </a:rPr>
              <a:t>Design freeze</a:t>
            </a:r>
          </a:p>
        </p:txBody>
      </p:sp>
      <p:sp>
        <p:nvSpPr>
          <p:cNvPr id="100055" name="TextBox 10"/>
          <p:cNvSpPr/>
          <p:nvPr/>
        </p:nvSpPr>
        <p:spPr>
          <a:xfrm xmlns:a="http://schemas.openxmlformats.org/drawingml/2006/main">
            <a:off x="2818800" y="3636000"/>
            <a:ext cx="6562800" cy="54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BF0E7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56" name="TextBox 11"/>
          <p:cNvSpPr/>
          <p:nvPr/>
        </p:nvSpPr>
        <p:spPr>
          <a:xfrm xmlns:a="http://schemas.openxmlformats.org/drawingml/2006/main">
            <a:off x="3034800" y="3636000"/>
            <a:ext cx="6130800" cy="5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rPr lang="en-US" sz="1400">
                <a:solidFill>
                  <a:srgbClr val="1F2933"/>
                </a:solidFill>
                <a:latin typeface="Calibri"/>
                <a:ea typeface="Calibri"/>
              </a:rPr>
              <a:t>Pilot at 3 sites</a:t>
            </a:r>
          </a:p>
        </p:txBody>
      </p:sp>
      <p:sp>
        <p:nvSpPr>
          <p:cNvPr id="100057" name="TextBox 12"/>
          <p:cNvSpPr/>
          <p:nvPr/>
        </p:nvSpPr>
        <p:spPr>
          <a:xfrm xmlns:a="http://schemas.openxmlformats.org/drawingml/2006/main">
            <a:off x="7376400" y="4392000"/>
            <a:ext cx="4284000" cy="54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BF0E7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58" name="TextBox 13"/>
          <p:cNvSpPr/>
          <p:nvPr/>
        </p:nvSpPr>
        <p:spPr>
          <a:xfrm xmlns:a="http://schemas.openxmlformats.org/drawingml/2006/main">
            <a:off x="7592400" y="4392000"/>
            <a:ext cx="3852000" cy="5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rPr lang="en-US" sz="1400">
                <a:solidFill>
                  <a:srgbClr val="1F2933"/>
                </a:solidFill>
                <a:latin typeface="Calibri"/>
                <a:ea typeface="Calibri"/>
              </a:rPr>
              <a:t>Scale to all units</a:t>
            </a:r>
          </a:p>
        </p:txBody>
      </p:sp>
      <p:sp>
        <p:nvSpPr>
          <p:cNvPr id="100059" name="TextBox 14"/>
          <p:cNvSpPr/>
          <p:nvPr/>
        </p:nvSpPr>
        <p:spPr>
          <a:xfrm xmlns:a="http://schemas.openxmlformats.org/drawingml/2006/main">
            <a:off x="9756000" y="1566000"/>
            <a:ext cx="1800000" cy="28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/>
            <a:r>
              <a:rPr lang="en-US" sz="1200" b="1">
                <a:solidFill>
                  <a:srgbClr val="122B45"/>
                </a:solidFill>
                <a:latin typeface="Consolas"/>
                <a:ea typeface="Consolas"/>
              </a:rPr>
              <a:t>WE ARE HERE</a:t>
            </a:r>
          </a:p>
        </p:txBody>
      </p:sp>
      <p:sp>
        <p:nvSpPr>
          <p:cNvPr id="100060" name="TodayLine"/>
          <p:cNvSpPr/>
          <p:nvPr/>
        </p:nvSpPr>
        <p:spPr>
          <a:xfrm xmlns:a="http://schemas.openxmlformats.org/drawingml/2006/main">
            <a:off x="10641600" y="1872000"/>
            <a:ext cx="28800" cy="331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B45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100061" name="Title"/>
          <p:cNvSpPr/>
          <p:nvPr/>
        </p:nvSpPr>
        <p:spPr>
          <a:xfrm xmlns:a="http://schemas.openxmlformats.org/drawingml/2006/main">
            <a:off x="540000" y="396000"/>
            <a:ext cx="11113200" cy="68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122B45"/>
                </a:solidFill>
                <a:latin typeface="Cambria"/>
                <a:ea typeface="Cambria"/>
              </a:rPr>
              <a:t>Decisions requested</a:t>
            </a:r>
          </a:p>
        </p:txBody>
      </p:sp>
      <p:sp>
        <p:nvSpPr>
          <p:cNvPr id="100062" name="TextBox 2"/>
          <p:cNvSpPr/>
          <p:nvPr/>
        </p:nvSpPr>
        <p:spPr>
          <a:xfrm xmlns:a="http://schemas.openxmlformats.org/drawingml/2006/main">
            <a:off x="540000" y="1098000"/>
            <a:ext cx="1260000" cy="43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A227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63" name="Decision1"/>
          <p:cNvSpPr/>
          <p:nvPr/>
        </p:nvSpPr>
        <p:spPr>
          <a:xfrm xmlns:a="http://schemas.openxmlformats.org/drawingml/2006/main">
            <a:off x="540000" y="1512000"/>
            <a:ext cx="3520800" cy="4608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5B6B82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64" name="TextBox 4"/>
          <p:cNvSpPr/>
          <p:nvPr/>
        </p:nvSpPr>
        <p:spPr>
          <a:xfrm xmlns:a="http://schemas.openxmlformats.org/drawingml/2006/main">
            <a:off x="828000" y="1836000"/>
            <a:ext cx="2944800" cy="39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2000" b="1">
                <a:solidFill>
                  <a:srgbClr val="122B45"/>
                </a:solidFill>
                <a:latin typeface="Cambria"/>
                <a:ea typeface="Cambria"/>
              </a:rPr>
              <a:t>01</a:t>
            </a:r>
          </a:p>
        </p:txBody>
      </p:sp>
      <p:sp>
        <p:nvSpPr>
          <p:cNvPr id="100065" name="TextBox 5"/>
          <p:cNvSpPr/>
          <p:nvPr/>
        </p:nvSpPr>
        <p:spPr>
          <a:xfrm xmlns:a="http://schemas.openxmlformats.org/drawingml/2006/main">
            <a:off x="828000" y="2304000"/>
            <a:ext cx="2944800" cy="39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1F2933"/>
                </a:solidFill>
                <a:latin typeface="Calibri"/>
                <a:ea typeface="Calibri"/>
              </a:rPr>
              <a:t>Vendor renewal</a:t>
            </a:r>
          </a:p>
        </p:txBody>
      </p:sp>
      <p:sp>
        <p:nvSpPr>
          <p:cNvPr id="100066" name="TextBox 6"/>
          <p:cNvSpPr/>
          <p:nvPr/>
        </p:nvSpPr>
        <p:spPr>
          <a:xfrm xmlns:a="http://schemas.openxmlformats.org/drawingml/2006/main">
            <a:off x="828000" y="2988000"/>
            <a:ext cx="2944800" cy="28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D7282F"/>
                </a:solidFill>
                <a:latin typeface="Consolas"/>
                <a:ea typeface="Consolas"/>
              </a:rPr>
              <a:t>GAP</a:t>
            </a:r>
          </a:p>
        </p:txBody>
      </p:sp>
      <p:sp>
        <p:nvSpPr>
          <p:cNvPr id="100067" name="TextBox 7"/>
          <p:cNvSpPr/>
          <p:nvPr/>
        </p:nvSpPr>
        <p:spPr>
          <a:xfrm xmlns:a="http://schemas.openxmlformats.org/drawingml/2006/main">
            <a:off x="828000" y="3312000"/>
            <a:ext cx="2944800" cy="86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1400">
                <a:solidFill>
                  <a:srgbClr val="1F2933"/>
                </a:solidFill>
                <a:latin typeface="Calibri"/>
                <a:ea typeface="Calibri"/>
              </a:rPr>
              <a:t>Current contract lapses 31 Jul with no fallback coverage for support.</a:t>
            </a:r>
          </a:p>
        </p:txBody>
      </p:sp>
      <p:sp>
        <p:nvSpPr>
          <p:cNvPr id="100068" name="TextBox 8"/>
          <p:cNvSpPr/>
          <p:nvPr/>
        </p:nvSpPr>
        <p:spPr>
          <a:xfrm xmlns:a="http://schemas.openxmlformats.org/drawingml/2006/main">
            <a:off x="828000" y="4356000"/>
            <a:ext cx="2944800" cy="28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00A651"/>
                </a:solidFill>
                <a:latin typeface="Consolas"/>
                <a:ea typeface="Consolas"/>
              </a:rPr>
              <a:t>PROPOSAL</a:t>
            </a:r>
          </a:p>
        </p:txBody>
      </p:sp>
      <p:sp>
        <p:nvSpPr>
          <p:cNvPr id="100069" name="TextBox 9"/>
          <p:cNvSpPr/>
          <p:nvPr/>
        </p:nvSpPr>
        <p:spPr>
          <a:xfrm xmlns:a="http://schemas.openxmlformats.org/drawingml/2006/main">
            <a:off x="828000" y="4680000"/>
            <a:ext cx="2944800" cy="100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1400">
                <a:solidFill>
                  <a:srgbClr val="1F2933"/>
                </a:solidFill>
                <a:latin typeface="Calibri"/>
                <a:ea typeface="Calibri"/>
              </a:rPr>
              <a:t>Renew for twelve months at the renegotiated rate agreed in June.</a:t>
            </a:r>
          </a:p>
        </p:txBody>
      </p:sp>
      <p:sp>
        <p:nvSpPr>
          <p:cNvPr id="100070" name="Decision2"/>
          <p:cNvSpPr/>
          <p:nvPr/>
        </p:nvSpPr>
        <p:spPr>
          <a:xfrm xmlns:a="http://schemas.openxmlformats.org/drawingml/2006/main">
            <a:off x="4334400" y="1512000"/>
            <a:ext cx="3520800" cy="4608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5B6B82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71" name="TextBox 11"/>
          <p:cNvSpPr/>
          <p:nvPr/>
        </p:nvSpPr>
        <p:spPr>
          <a:xfrm xmlns:a="http://schemas.openxmlformats.org/drawingml/2006/main">
            <a:off x="4622400" y="1836000"/>
            <a:ext cx="2944800" cy="39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2000" b="1">
                <a:solidFill>
                  <a:srgbClr val="122B45"/>
                </a:solidFill>
                <a:latin typeface="Cambria"/>
                <a:ea typeface="Cambria"/>
              </a:rPr>
              <a:t>02</a:t>
            </a:r>
          </a:p>
        </p:txBody>
      </p:sp>
      <p:sp>
        <p:nvSpPr>
          <p:cNvPr id="100072" name="TextBox 12"/>
          <p:cNvSpPr/>
          <p:nvPr/>
        </p:nvSpPr>
        <p:spPr>
          <a:xfrm xmlns:a="http://schemas.openxmlformats.org/drawingml/2006/main">
            <a:off x="4622400" y="2304000"/>
            <a:ext cx="2944800" cy="39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1F2933"/>
                </a:solidFill>
                <a:latin typeface="Calibri"/>
                <a:ea typeface="Calibri"/>
              </a:rPr>
              <a:t>Scale budget</a:t>
            </a:r>
          </a:p>
        </p:txBody>
      </p:sp>
      <p:sp>
        <p:nvSpPr>
          <p:cNvPr id="100073" name="TextBox 13"/>
          <p:cNvSpPr/>
          <p:nvPr/>
        </p:nvSpPr>
        <p:spPr>
          <a:xfrm xmlns:a="http://schemas.openxmlformats.org/drawingml/2006/main">
            <a:off x="4622400" y="2988000"/>
            <a:ext cx="2944800" cy="28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D7282F"/>
                </a:solidFill>
                <a:latin typeface="Consolas"/>
                <a:ea typeface="Consolas"/>
              </a:rPr>
              <a:t>GAP</a:t>
            </a:r>
          </a:p>
        </p:txBody>
      </p:sp>
      <p:sp>
        <p:nvSpPr>
          <p:cNvPr id="100074" name="TextBox 14"/>
          <p:cNvSpPr/>
          <p:nvPr/>
        </p:nvSpPr>
        <p:spPr>
          <a:xfrm xmlns:a="http://schemas.openxmlformats.org/drawingml/2006/main">
            <a:off x="4622400" y="3312000"/>
            <a:ext cx="2944800" cy="86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1400">
                <a:solidFill>
                  <a:srgbClr val="1F2933"/>
                </a:solidFill>
                <a:latin typeface="Calibri"/>
                <a:ea typeface="Calibri"/>
              </a:rPr>
              <a:t>Waves five and six of the rollout are unfunded beyond August.</a:t>
            </a:r>
          </a:p>
        </p:txBody>
      </p:sp>
      <p:sp>
        <p:nvSpPr>
          <p:cNvPr id="100075" name="TextBox 15"/>
          <p:cNvSpPr/>
          <p:nvPr/>
        </p:nvSpPr>
        <p:spPr>
          <a:xfrm xmlns:a="http://schemas.openxmlformats.org/drawingml/2006/main">
            <a:off x="4622400" y="4356000"/>
            <a:ext cx="2944800" cy="28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00A651"/>
                </a:solidFill>
                <a:latin typeface="Consolas"/>
                <a:ea typeface="Consolas"/>
              </a:rPr>
              <a:t>PROPOSAL</a:t>
            </a:r>
          </a:p>
        </p:txBody>
      </p:sp>
      <p:sp>
        <p:nvSpPr>
          <p:cNvPr id="100076" name="TextBox 16"/>
          <p:cNvSpPr/>
          <p:nvPr/>
        </p:nvSpPr>
        <p:spPr>
          <a:xfrm xmlns:a="http://schemas.openxmlformats.org/drawingml/2006/main">
            <a:off x="4622400" y="4680000"/>
            <a:ext cx="2944800" cy="100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1400">
                <a:solidFill>
                  <a:srgbClr val="1F2933"/>
                </a:solidFill>
                <a:latin typeface="Calibri"/>
                <a:ea typeface="Calibri"/>
              </a:rPr>
              <a:t>Release the contingency line to fund the remaining rollout waves.</a:t>
            </a:r>
          </a:p>
        </p:txBody>
      </p:sp>
      <p:sp>
        <p:nvSpPr>
          <p:cNvPr id="100077" name="Decision3"/>
          <p:cNvSpPr/>
          <p:nvPr/>
        </p:nvSpPr>
        <p:spPr>
          <a:xfrm xmlns:a="http://schemas.openxmlformats.org/drawingml/2006/main">
            <a:off x="8128800" y="1512000"/>
            <a:ext cx="3520800" cy="4608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5B6B82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78" name="TextBox 18"/>
          <p:cNvSpPr/>
          <p:nvPr/>
        </p:nvSpPr>
        <p:spPr>
          <a:xfrm xmlns:a="http://schemas.openxmlformats.org/drawingml/2006/main">
            <a:off x="8416800" y="1836000"/>
            <a:ext cx="2944800" cy="39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2000" b="1">
                <a:solidFill>
                  <a:srgbClr val="122B45"/>
                </a:solidFill>
                <a:latin typeface="Cambria"/>
                <a:ea typeface="Cambria"/>
              </a:rPr>
              <a:t>03</a:t>
            </a:r>
          </a:p>
        </p:txBody>
      </p:sp>
      <p:sp>
        <p:nvSpPr>
          <p:cNvPr id="100079" name="TextBox 19"/>
          <p:cNvSpPr/>
          <p:nvPr/>
        </p:nvSpPr>
        <p:spPr>
          <a:xfrm xmlns:a="http://schemas.openxmlformats.org/drawingml/2006/main">
            <a:off x="8416800" y="2304000"/>
            <a:ext cx="2944800" cy="39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1F2933"/>
                </a:solidFill>
                <a:latin typeface="Calibri"/>
                <a:ea typeface="Calibri"/>
              </a:rPr>
              <a:t>Hiring plan</a:t>
            </a:r>
          </a:p>
        </p:txBody>
      </p:sp>
      <p:sp>
        <p:nvSpPr>
          <p:cNvPr id="100080" name="TextBox 20"/>
          <p:cNvSpPr/>
          <p:nvPr/>
        </p:nvSpPr>
        <p:spPr>
          <a:xfrm xmlns:a="http://schemas.openxmlformats.org/drawingml/2006/main">
            <a:off x="8416800" y="2988000"/>
            <a:ext cx="2944800" cy="28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D7282F"/>
                </a:solidFill>
                <a:latin typeface="Consolas"/>
                <a:ea typeface="Consolas"/>
              </a:rPr>
              <a:t>GAP</a:t>
            </a:r>
          </a:p>
        </p:txBody>
      </p:sp>
      <p:sp>
        <p:nvSpPr>
          <p:cNvPr id="100081" name="TextBox 21"/>
          <p:cNvSpPr/>
          <p:nvPr/>
        </p:nvSpPr>
        <p:spPr>
          <a:xfrm xmlns:a="http://schemas.openxmlformats.org/drawingml/2006/main">
            <a:off x="8416800" y="3312000"/>
            <a:ext cx="2944800" cy="86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1400">
                <a:solidFill>
                  <a:srgbClr val="1F2933"/>
                </a:solidFill>
                <a:latin typeface="Calibri"/>
                <a:ea typeface="Calibri"/>
              </a:rPr>
              <a:t>Two platform engineering roles have been open since April.</a:t>
            </a:r>
          </a:p>
        </p:txBody>
      </p:sp>
      <p:sp>
        <p:nvSpPr>
          <p:cNvPr id="100082" name="TextBox 22"/>
          <p:cNvSpPr/>
          <p:nvPr/>
        </p:nvSpPr>
        <p:spPr>
          <a:xfrm xmlns:a="http://schemas.openxmlformats.org/drawingml/2006/main">
            <a:off x="8416800" y="4356000"/>
            <a:ext cx="2944800" cy="28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00A651"/>
                </a:solidFill>
                <a:latin typeface="Consolas"/>
                <a:ea typeface="Consolas"/>
              </a:rPr>
              <a:t>PROPOSAL</a:t>
            </a:r>
          </a:p>
        </p:txBody>
      </p:sp>
      <p:sp>
        <p:nvSpPr>
          <p:cNvPr id="100083" name="TextBox 23"/>
          <p:cNvSpPr/>
          <p:nvPr/>
        </p:nvSpPr>
        <p:spPr>
          <a:xfrm xmlns:a="http://schemas.openxmlformats.org/drawingml/2006/main">
            <a:off x="8416800" y="4680000"/>
            <a:ext cx="2944800" cy="100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1400">
                <a:solidFill>
                  <a:srgbClr val="1F2933"/>
                </a:solidFill>
                <a:latin typeface="Calibri"/>
                <a:ea typeface="Calibri"/>
              </a:rPr>
              <a:t>Approve backfill through contract-to-hire staffing this quarter.</a:t>
            </a:r>
          </a:p>
        </p:txBody>
      </p:sp>
    </p:spTree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100084" name="Title"/>
          <p:cNvSpPr/>
          <p:nvPr/>
        </p:nvSpPr>
        <p:spPr>
          <a:xfrm xmlns:a="http://schemas.openxmlformats.org/drawingml/2006/main">
            <a:off x="540000" y="396000"/>
            <a:ext cx="11113200" cy="68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122B45"/>
                </a:solidFill>
                <a:latin typeface="Cambria"/>
                <a:ea typeface="Cambria"/>
              </a:rPr>
              <a:t>Status and next steps</a:t>
            </a:r>
          </a:p>
        </p:txBody>
      </p:sp>
      <p:sp>
        <p:nvSpPr>
          <p:cNvPr id="100085" name="TextBox 2"/>
          <p:cNvSpPr/>
          <p:nvPr/>
        </p:nvSpPr>
        <p:spPr>
          <a:xfrm xmlns:a="http://schemas.openxmlformats.org/drawingml/2006/main">
            <a:off x="540000" y="1098000"/>
            <a:ext cx="1260000" cy="43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A227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86" name="CaveatBanner"/>
          <p:cNvSpPr/>
          <p:nvPr/>
        </p:nvSpPr>
        <p:spPr>
          <a:xfrm xmlns:a="http://schemas.openxmlformats.org/drawingml/2006/main">
            <a:off x="540000" y="1512000"/>
            <a:ext cx="11113200" cy="54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BF0E7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87" name="TextBox 4"/>
          <p:cNvSpPr/>
          <p:nvPr/>
        </p:nvSpPr>
        <p:spPr>
          <a:xfrm xmlns:a="http://schemas.openxmlformats.org/drawingml/2006/main">
            <a:off x="792000" y="1512000"/>
            <a:ext cx="10440000" cy="5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F1592A"/>
                </a:solidFill>
                <a:latin typeface="Calibri"/>
                <a:ea typeface="Calibri"/>
              </a:rPr>
              <a:t>INITIAL RESEARCH — MODEL NOT YET FINALIZED</a:t>
            </a:r>
          </a:p>
        </p:txBody>
      </p:sp>
      <p:sp>
        <p:nvSpPr>
          <p:cNvPr id="100088" name="StepNum1"/>
          <p:cNvSpPr/>
          <p:nvPr/>
        </p:nvSpPr>
        <p:spPr>
          <a:xfrm xmlns:a="http://schemas.openxmlformats.org/drawingml/2006/main">
            <a:off x="540000" y="2736000"/>
            <a:ext cx="612000" cy="612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651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1600" b="1">
                <a:solidFill>
                  <a:srgbClr val="FFFFFF"/>
                </a:solidFill>
                <a:latin typeface="Cambria"/>
                <a:ea typeface="Cambria"/>
              </a:rPr>
              <a:t>1</a:t>
            </a:r>
          </a:p>
        </p:txBody>
      </p:sp>
      <p:sp>
        <p:nvSpPr>
          <p:cNvPr id="100089" name="TextBox 6"/>
          <p:cNvSpPr/>
          <p:nvPr/>
        </p:nvSpPr>
        <p:spPr>
          <a:xfrm xmlns:a="http://schemas.openxmlformats.org/drawingml/2006/main">
            <a:off x="1332000" y="2682000"/>
            <a:ext cx="3600000" cy="28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F1592A"/>
                </a:solidFill>
                <a:latin typeface="Consolas"/>
                <a:ea typeface="Consolas"/>
              </a:rPr>
              <a:t>NEXT</a:t>
            </a:r>
          </a:p>
        </p:txBody>
      </p:sp>
      <p:sp>
        <p:nvSpPr>
          <p:cNvPr id="100090" name="TextBox 7"/>
          <p:cNvSpPr/>
          <p:nvPr/>
        </p:nvSpPr>
        <p:spPr>
          <a:xfrm xmlns:a="http://schemas.openxmlformats.org/drawingml/2006/main">
            <a:off x="1332000" y="2988000"/>
            <a:ext cx="7560000" cy="50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2000" b="1">
                <a:solidFill>
                  <a:srgbClr val="1F2933"/>
                </a:solidFill>
                <a:latin typeface="Calibri"/>
                <a:ea typeface="Calibri"/>
              </a:rPr>
              <a:t>Alignment meeting with the platform vendor</a:t>
            </a:r>
          </a:p>
        </p:txBody>
      </p:sp>
      <p:sp>
        <p:nvSpPr>
          <p:cNvPr id="100091" name="TextBox 8"/>
          <p:cNvSpPr/>
          <p:nvPr/>
        </p:nvSpPr>
        <p:spPr>
          <a:xfrm xmlns:a="http://schemas.openxmlformats.org/drawingml/2006/main">
            <a:off x="9180000" y="3006000"/>
            <a:ext cx="2473200" cy="39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/>
            <a:r>
              <a:rPr lang="en-US" sz="1300" b="1">
                <a:solidFill>
                  <a:srgbClr val="5B6B82"/>
                </a:solidFill>
                <a:latin typeface="Consolas"/>
                <a:ea typeface="Consolas"/>
              </a:rPr>
              <a:t>K. Dao · 05 Jul</a:t>
            </a:r>
          </a:p>
        </p:txBody>
      </p:sp>
      <p:sp>
        <p:nvSpPr>
          <p:cNvPr id="100092" name="StepNum2"/>
          <p:cNvSpPr/>
          <p:nvPr/>
        </p:nvSpPr>
        <p:spPr>
          <a:xfrm xmlns:a="http://schemas.openxmlformats.org/drawingml/2006/main">
            <a:off x="540000" y="4320000"/>
            <a:ext cx="612000" cy="612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651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1600" b="1">
                <a:solidFill>
                  <a:srgbClr val="FFFFFF"/>
                </a:solidFill>
                <a:latin typeface="Cambria"/>
                <a:ea typeface="Cambria"/>
              </a:rPr>
              <a:t>2</a:t>
            </a:r>
          </a:p>
        </p:txBody>
      </p:sp>
      <p:sp>
        <p:nvSpPr>
          <p:cNvPr id="100093" name="TextBox 10"/>
          <p:cNvSpPr/>
          <p:nvPr/>
        </p:nvSpPr>
        <p:spPr>
          <a:xfrm xmlns:a="http://schemas.openxmlformats.org/drawingml/2006/main">
            <a:off x="1332000" y="4266000"/>
            <a:ext cx="3600000" cy="28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F1592A"/>
                </a:solidFill>
                <a:latin typeface="Consolas"/>
                <a:ea typeface="Consolas"/>
              </a:rPr>
              <a:t>FOR CEO</a:t>
            </a:r>
          </a:p>
        </p:txBody>
      </p:sp>
      <p:sp>
        <p:nvSpPr>
          <p:cNvPr id="100094" name="TextBox 11"/>
          <p:cNvSpPr/>
          <p:nvPr/>
        </p:nvSpPr>
        <p:spPr>
          <a:xfrm xmlns:a="http://schemas.openxmlformats.org/drawingml/2006/main">
            <a:off x="1332000" y="4572000"/>
            <a:ext cx="7560000" cy="50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2000" b="1">
                <a:solidFill>
                  <a:srgbClr val="1F2933"/>
                </a:solidFill>
                <a:latin typeface="Calibri"/>
                <a:ea typeface="Calibri"/>
              </a:rPr>
              <a:t>Approve the centralized onboarding budget</a:t>
            </a:r>
          </a:p>
        </p:txBody>
      </p:sp>
      <p:sp>
        <p:nvSpPr>
          <p:cNvPr id="100095" name="TextBox 12"/>
          <p:cNvSpPr/>
          <p:nvPr/>
        </p:nvSpPr>
        <p:spPr>
          <a:xfrm xmlns:a="http://schemas.openxmlformats.org/drawingml/2006/main">
            <a:off x="9180000" y="4590000"/>
            <a:ext cx="2473200" cy="39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/>
            <a:r>
              <a:rPr lang="en-US" sz="1300" b="1">
                <a:solidFill>
                  <a:srgbClr val="5B6B82"/>
                </a:solidFill>
                <a:latin typeface="Consolas"/>
                <a:ea typeface="Consolas"/>
              </a:rPr>
              <a:t>T. Le · 12 Jul</a:t>
            </a:r>
          </a:p>
        </p:txBody>
      </p:sp>
    </p:spTree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100096" name="TextBox 1"/>
          <p:cNvSpPr/>
          <p:nvPr/>
        </p:nvSpPr>
        <p:spPr>
          <a:xfrm xmlns:a="http://schemas.openxmlformats.org/drawingml/2006/main">
            <a:off x="10260000" y="288000"/>
            <a:ext cx="1393200" cy="25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/>
            <a:r>
              <a:rPr lang="en-US" sz="1000">
                <a:solidFill>
                  <a:srgbClr val="5B6B82"/>
                </a:solidFill>
                <a:latin typeface="Consolas"/>
                <a:ea typeface="Consolas"/>
              </a:rPr>
              <a:t>[COMPANY LOGO]</a:t>
            </a:r>
          </a:p>
        </p:txBody>
      </p:sp>
      <p:sp>
        <p:nvSpPr>
          <p:cNvPr id="100097" name="Title"/>
          <p:cNvSpPr/>
          <p:nvPr/>
        </p:nvSpPr>
        <p:spPr>
          <a:xfrm xmlns:a="http://schemas.openxmlformats.org/drawingml/2006/main">
            <a:off x="540000" y="936000"/>
            <a:ext cx="10080000" cy="75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122B45"/>
                </a:solidFill>
                <a:latin typeface="Cambria"/>
                <a:ea typeface="Cambria"/>
              </a:rPr>
              <a:t>Asks of this committee</a:t>
            </a:r>
          </a:p>
        </p:txBody>
      </p:sp>
      <p:sp>
        <p:nvSpPr>
          <p:cNvPr id="100098" name="TextBox 3"/>
          <p:cNvSpPr/>
          <p:nvPr/>
        </p:nvSpPr>
        <p:spPr>
          <a:xfrm xmlns:a="http://schemas.openxmlformats.org/drawingml/2006/main">
            <a:off x="540000" y="1710000"/>
            <a:ext cx="1260000" cy="43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A227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99" name="TextBox 4"/>
          <p:cNvSpPr/>
          <p:nvPr/>
        </p:nvSpPr>
        <p:spPr>
          <a:xfrm xmlns:a="http://schemas.openxmlformats.org/drawingml/2006/main">
            <a:off x="540000" y="2682000"/>
            <a:ext cx="432000" cy="43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A227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100" name="TextBox 5"/>
          <p:cNvSpPr/>
          <p:nvPr/>
        </p:nvSpPr>
        <p:spPr>
          <a:xfrm xmlns:a="http://schemas.openxmlformats.org/drawingml/2006/main">
            <a:off x="1116000" y="2520000"/>
            <a:ext cx="10260000" cy="57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2000" b="1">
                <a:solidFill>
                  <a:srgbClr val="1F2933"/>
                </a:solidFill>
                <a:latin typeface="Calibri"/>
                <a:ea typeface="Calibri"/>
              </a:rPr>
              <a:t>Approve the vendor renewal and the scale budget today.</a:t>
            </a:r>
          </a:p>
        </p:txBody>
      </p:sp>
      <p:sp>
        <p:nvSpPr>
          <p:cNvPr id="100101" name="TextBox 6"/>
          <p:cNvSpPr/>
          <p:nvPr/>
        </p:nvSpPr>
        <p:spPr>
          <a:xfrm xmlns:a="http://schemas.openxmlformats.org/drawingml/2006/main">
            <a:off x="540000" y="3690000"/>
            <a:ext cx="432000" cy="43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A227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102" name="TextBox 7"/>
          <p:cNvSpPr/>
          <p:nvPr/>
        </p:nvSpPr>
        <p:spPr>
          <a:xfrm xmlns:a="http://schemas.openxmlformats.org/drawingml/2006/main">
            <a:off x="1116000" y="3528000"/>
            <a:ext cx="10260000" cy="57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2000" b="1">
                <a:solidFill>
                  <a:srgbClr val="1F2933"/>
                </a:solidFill>
                <a:latin typeface="Calibri"/>
                <a:ea typeface="Calibri"/>
              </a:rPr>
              <a:t>Nominate one sponsor per business unit by mid-July.</a:t>
            </a:r>
          </a:p>
        </p:txBody>
      </p:sp>
      <p:sp>
        <p:nvSpPr>
          <p:cNvPr id="100103" name="TextBox 8"/>
          <p:cNvSpPr/>
          <p:nvPr/>
        </p:nvSpPr>
        <p:spPr>
          <a:xfrm xmlns:a="http://schemas.openxmlformats.org/drawingml/2006/main">
            <a:off x="540000" y="4698000"/>
            <a:ext cx="432000" cy="43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A227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104" name="TextBox 9"/>
          <p:cNvSpPr/>
          <p:nvPr/>
        </p:nvSpPr>
        <p:spPr>
          <a:xfrm xmlns:a="http://schemas.openxmlformats.org/drawingml/2006/main">
            <a:off x="1116000" y="4536000"/>
            <a:ext cx="10260000" cy="57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2000" b="1">
                <a:solidFill>
                  <a:srgbClr val="1F2933"/>
                </a:solidFill>
                <a:latin typeface="Calibri"/>
                <a:ea typeface="Calibri"/>
              </a:rPr>
              <a:t>Hold thirty minutes monthly for this steering review.</a:t>
            </a:r>
          </a:p>
        </p:txBody>
      </p:sp>
      <p:sp>
        <p:nvSpPr>
          <p:cNvPr id="100105" name="TextBox 10"/>
          <p:cNvSpPr/>
          <p:nvPr/>
        </p:nvSpPr>
        <p:spPr>
          <a:xfrm xmlns:a="http://schemas.openxmlformats.org/drawingml/2006/main">
            <a:off x="540000" y="5976000"/>
            <a:ext cx="10080000" cy="3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r>
              <a:rPr lang="en-US" sz="1400">
                <a:solidFill>
                  <a:srgbClr val="5B6B82"/>
                </a:solidFill>
                <a:latin typeface="Calibri"/>
                <a:ea typeface="Calibri"/>
              </a:rPr>
              <a:t>Prepared by the Transformation Office · [contact]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ap:Properties xmlns:ap="http://schemas.openxmlformats.org/officeDocument/2006/extended-properties">
  <ap:Application>OfficeCLI/1.0.141</ap:Application>
</a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OfficeCLI</dc:creator>
  <dcterms:created xsi:type="dcterms:W3CDTF">2026-07-24T09:41:27Z</dcterms:created>
  <cp:lastModifiedBy>OfficeCLI</cp:lastModifiedBy>
  <dcterms:modified xsi:type="dcterms:W3CDTF">2026-07-24T09:41:27Z</dcterms:modified>
</cp:coreProperties>
</file>

<file path=docProps/custom.xml><?xml version="1.0" encoding="utf-8"?>
<op:Properties xmlns:op="http://schemas.openxmlformats.org/officeDocument/2006/custom-properties">
  <op:property fmtid="{D5CDD505-2E9C-101B-9397-08002B2CF9AE}" pid="2" name="OfficeCLI.Version">
    <vt:lpwstr xmlns:vt="http://schemas.openxmlformats.org/officeDocument/2006/docPropsVTypes">1.0.141</vt:lpwstr>
  </op:property>
  <op:property fmtid="{D5CDD505-2E9C-101B-9397-08002B2CF9AE}" pid="3" name="OfficeCLI.LastModified">
    <vt:lpwstr xmlns:vt="http://schemas.openxmlformats.org/officeDocument/2006/docPropsVTypes">2026-07-24T09:41:32Z</vt:lpwstr>
  </op:property>
</op:Properties>
</file>