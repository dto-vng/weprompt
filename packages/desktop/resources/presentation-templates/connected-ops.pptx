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f92ad10887b4962" /><Relationship Type="http://schemas.openxmlformats.org/package/2006/relationships/metadata/core-properties" Target="/docProps/core.xml" Id="R1eb4b8cc270a4af8" /><Relationship Type="http://schemas.openxmlformats.org/officeDocument/2006/relationships/extended-properties" Target="/docProps/app.xml" Id="R0b296196750e4bba" /><Relationship Type="http://schemas.openxmlformats.org/officeDocument/2006/relationships/custom-properties" Target="/docProps/custom.xml" Id="Rba1b4d1a24ce48a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74cf3bf7e16c4ee2"/>
    <p:sldId id="257" r:id="R57505964b7be475c"/>
    <p:sldId id="258" r:id="Rfcdcc7b36fd14a10"/>
    <p:sldId id="259" r:id="R2a711eb92bc74ee7"/>
    <p:sldId id="260" r:id="Rb5eb9becc17a4b15"/>
    <p:sldId id="261" r:id="R3a78745fd4614e91"/>
    <p:sldId id="262" r:id="R0d203d85d0524f6b"/>
    <p:sldId id="263" r:id="Rd1ab87a58c39431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4cf3bf7e16c4ee2" /><Relationship Type="http://schemas.openxmlformats.org/officeDocument/2006/relationships/slide" Target="/ppt/slides/slide2.xml" Id="R57505964b7be475c" /><Relationship Type="http://schemas.openxmlformats.org/officeDocument/2006/relationships/slide" Target="/ppt/slides/slide3.xml" Id="Rfcdcc7b36fd14a10" /><Relationship Type="http://schemas.openxmlformats.org/officeDocument/2006/relationships/slide" Target="/ppt/slides/slide4.xml" Id="R2a711eb92bc74ee7" /><Relationship Type="http://schemas.openxmlformats.org/officeDocument/2006/relationships/slide" Target="/ppt/slides/slide5.xml" Id="Rb5eb9becc17a4b15" /><Relationship Type="http://schemas.openxmlformats.org/officeDocument/2006/relationships/slide" Target="/ppt/slides/slide6.xml" Id="R3a78745fd4614e91" /><Relationship Type="http://schemas.openxmlformats.org/officeDocument/2006/relationships/slide" Target="/ppt/slides/slide7.xml" Id="R0d203d85d0524f6b" /><Relationship Type="http://schemas.openxmlformats.org/officeDocument/2006/relationships/slide" Target="/ppt/slides/slide8.xml" Id="Rd1ab87a58c3943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Cover. Replace the operations name, date and media placeholder; keep the outlined hexagon cluster — it is the deck signature.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Agenda. Four items maximum; the numbered green hexagons echo the section dividers.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KPI pill grid. The orange numeral in the headline is the hero number — update it with the grid. Keep number first inside each pill.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Media and narrative split. Swap the placeholder for site footage; keep the green stat line as the single proof point.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Use-case cards. One use case per card; the orange metric line is the only number on the card.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Section divider. Whitespace is intentional — the giant orange numeral matches the agenda order.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Rollout status row. Green chips are live regions, orange chips are planned waves; size the green bar to the connected share.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Closing. Deep-green full-bleed; keep to three asks with orange hexagon bullets and end on the program footer.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d5bbbfd7241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962ee759245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d0ac6f31a46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9a99fcc164f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2de7ca1cc4a2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73c5a3f48744e3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7ed4c5ab6469f" /><Relationship Type="http://schemas.openxmlformats.org/officeDocument/2006/relationships/notesSlide" Target="/ppt/notesSlides/notesSlide1.xml" Id="R8d48f343f7db4d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d6f8b7029435a" /><Relationship Type="http://schemas.openxmlformats.org/officeDocument/2006/relationships/notesSlide" Target="/ppt/notesSlides/notesSlide2.xml" Id="R5e3edfed0b8443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ddaeccf04ad0" /><Relationship Type="http://schemas.openxmlformats.org/officeDocument/2006/relationships/notesSlide" Target="/ppt/notesSlides/notesSlide3.xml" Id="R8603eb80f2e0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ff572fa804b5c" /><Relationship Type="http://schemas.openxmlformats.org/officeDocument/2006/relationships/notesSlide" Target="/ppt/notesSlides/notesSlide4.xml" Id="Ra4ba63532f8449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2c151657e46ec" /><Relationship Type="http://schemas.openxmlformats.org/officeDocument/2006/relationships/notesSlide" Target="/ppt/notesSlides/notesSlide5.xml" Id="R630c180eb80c4c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fc929d0cd4436" /><Relationship Type="http://schemas.openxmlformats.org/officeDocument/2006/relationships/notesSlide" Target="/ppt/notesSlides/notesSlide6.xml" Id="R0c665d79d9dd4f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32b51dffd4d7b" /><Relationship Type="http://schemas.openxmlformats.org/officeDocument/2006/relationships/notesSlide" Target="/ppt/notesSlides/notesSlide7.xml" Id="Rd1dc44b5c34b44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fedeb70b948bd" /><Relationship Type="http://schemas.openxmlformats.org/officeDocument/2006/relationships/notesSlide" Target="/ppt/notesSlides/notesSlide8.xml" Id="R87f1696e0a074e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-648000" y="-576000"/>
            <a:ext cx="2016000" cy="20160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1044000" y="-360000"/>
            <a:ext cx="1152000" cy="1152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216000" y="936000"/>
            <a:ext cx="756000" cy="7560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540000" y="1980000"/>
            <a:ext cx="57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0A650"/>
                </a:solidFill>
                <a:latin typeface="Consolas"/>
                <a:ea typeface="Consolas"/>
              </a:rPr>
              <a:t>NORTHWIND OPERATIONS · [DATE]</a:t>
            </a:r>
          </a:p>
        </p:txBody>
      </p:sp>
      <p:sp>
        <p:nvSpPr>
          <p:cNvPr id="100004" name="Title"/>
          <p:cNvSpPr/>
          <p:nvPr/>
        </p:nvSpPr>
        <p:spPr>
          <a:xfrm xmlns:a="http://schemas.openxmlformats.org/drawingml/2006/main">
            <a:off x="540000" y="2304000"/>
            <a:ext cx="5760000" cy="16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4200" b="1">
                <a:solidFill>
                  <a:srgbClr val="1F2933"/>
                </a:solidFill>
                <a:latin typeface="Calibri"/>
                <a:ea typeface="Calibri"/>
              </a:rPr>
              <a:t>Connected Operations Review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540000" y="4068000"/>
            <a:ext cx="57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00A650"/>
                </a:solidFill>
                <a:latin typeface="Calibri"/>
                <a:ea typeface="Calibri"/>
              </a:rPr>
              <a:t>The future is running</a:t>
            </a:r>
          </a:p>
        </p:txBody>
      </p:sp>
      <p:sp>
        <p:nvSpPr>
          <p:cNvPr id="100006" name="MediaPlaceholder"/>
          <p:cNvSpPr/>
          <p:nvPr/>
        </p:nvSpPr>
        <p:spPr>
          <a:xfrm xmlns:a="http://schemas.openxmlformats.org/drawingml/2006/main">
            <a:off x="6624000" y="1620000"/>
            <a:ext cx="5004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[ MEDIA — replace or delete ]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F2933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100008" name="TextBox 2"/>
          <p:cNvSpPr/>
          <p:nvPr/>
        </p:nvSpPr>
        <p:spPr>
          <a:xfrm xmlns:a="http://schemas.openxmlformats.org/drawingml/2006/main">
            <a:off x="540000" y="1710000"/>
            <a:ext cx="360000" cy="360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9" name="TextBox 3"/>
          <p:cNvSpPr/>
          <p:nvPr/>
        </p:nvSpPr>
        <p:spPr>
          <a:xfrm xmlns:a="http://schemas.openxmlformats.org/drawingml/2006/main">
            <a:off x="1152000" y="1692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Network status</a:t>
            </a:r>
          </a:p>
        </p:txBody>
      </p:sp>
      <p:sp>
        <p:nvSpPr>
          <p:cNvPr id="100010" name="TextBox 4"/>
          <p:cNvSpPr/>
          <p:nvPr/>
        </p:nvSpPr>
        <p:spPr>
          <a:xfrm xmlns:a="http://schemas.openxmlformats.org/drawingml/2006/main">
            <a:off x="1152000" y="2106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Where the connected network stands after this quarter.</a:t>
            </a:r>
          </a:p>
        </p:txBody>
      </p:sp>
      <p:sp>
        <p:nvSpPr>
          <p:cNvPr id="100011" name="TextBox 5"/>
          <p:cNvSpPr/>
          <p:nvPr/>
        </p:nvSpPr>
        <p:spPr>
          <a:xfrm xmlns:a="http://schemas.openxmlformats.org/drawingml/2006/main">
            <a:off x="540000" y="2862000"/>
            <a:ext cx="360000" cy="360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2" name="TextBox 6"/>
          <p:cNvSpPr/>
          <p:nvPr/>
        </p:nvSpPr>
        <p:spPr>
          <a:xfrm xmlns:a="http://schemas.openxmlformats.org/drawingml/2006/main">
            <a:off x="1152000" y="2844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Use cases in production</a:t>
            </a:r>
          </a:p>
        </p:txBody>
      </p:sp>
      <p:sp>
        <p:nvSpPr>
          <p:cNvPr id="100013" name="TextBox 7"/>
          <p:cNvSpPr/>
          <p:nvPr/>
        </p:nvSpPr>
        <p:spPr>
          <a:xfrm xmlns:a="http://schemas.openxmlformats.org/drawingml/2006/main">
            <a:off x="1152000" y="3258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Three use cases now running at scale on live lines.</a:t>
            </a:r>
          </a:p>
        </p:txBody>
      </p:sp>
      <p:sp>
        <p:nvSpPr>
          <p:cNvPr id="100014" name="TextBox 8"/>
          <p:cNvSpPr/>
          <p:nvPr/>
        </p:nvSpPr>
        <p:spPr>
          <a:xfrm xmlns:a="http://schemas.openxmlformats.org/drawingml/2006/main">
            <a:off x="540000" y="4014000"/>
            <a:ext cx="360000" cy="360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5" name="TextBox 9"/>
          <p:cNvSpPr/>
          <p:nvPr/>
        </p:nvSpPr>
        <p:spPr>
          <a:xfrm xmlns:a="http://schemas.openxmlformats.org/drawingml/2006/main">
            <a:off x="1152000" y="3996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Rollout plan</a:t>
            </a:r>
          </a:p>
        </p:txBody>
      </p:sp>
      <p:sp>
        <p:nvSpPr>
          <p:cNvPr id="100016" name="TextBox 10"/>
          <p:cNvSpPr/>
          <p:nvPr/>
        </p:nvSpPr>
        <p:spPr>
          <a:xfrm xmlns:a="http://schemas.openxmlformats.org/drawingml/2006/main">
            <a:off x="1152000" y="4410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Wave sequencing for the remaining regions this year.</a:t>
            </a:r>
          </a:p>
        </p:txBody>
      </p:sp>
      <p:sp>
        <p:nvSpPr>
          <p:cNvPr id="100017" name="TextBox 11"/>
          <p:cNvSpPr/>
          <p:nvPr/>
        </p:nvSpPr>
        <p:spPr>
          <a:xfrm xmlns:a="http://schemas.openxmlformats.org/drawingml/2006/main">
            <a:off x="540000" y="5166000"/>
            <a:ext cx="360000" cy="360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18" name="TextBox 12"/>
          <p:cNvSpPr/>
          <p:nvPr/>
        </p:nvSpPr>
        <p:spPr>
          <a:xfrm xmlns:a="http://schemas.openxmlformats.org/drawingml/2006/main">
            <a:off x="1152000" y="5148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Asks</a:t>
            </a:r>
          </a:p>
        </p:txBody>
      </p:sp>
      <p:sp>
        <p:nvSpPr>
          <p:cNvPr id="100019" name="TextBox 13"/>
          <p:cNvSpPr/>
          <p:nvPr/>
        </p:nvSpPr>
        <p:spPr>
          <a:xfrm xmlns:a="http://schemas.openxmlformats.org/drawingml/2006/main">
            <a:off x="1152000" y="5562000"/>
            <a:ext cx="97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What we need from this group to hold the plan.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0" name="Title"/>
          <p:cNvSpPr/>
          <p:nvPr/>
        </p:nvSpPr>
        <p:spPr>
          <a:xfrm xmlns:a="http://schemas.openxmlformats.org/drawingml/2006/main">
            <a:off x="540000" y="648000"/>
            <a:ext cx="259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  <a:latin typeface="Calibri"/>
                <a:ea typeface="Calibri"/>
              </a:rPr>
              <a:t>We reached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2952000" y="576000"/>
            <a:ext cx="864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59A23"/>
                </a:solidFill>
                <a:latin typeface="Calibri"/>
                <a:ea typeface="Calibri"/>
              </a:rPr>
              <a:t>47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3636000" y="648000"/>
            <a:ext cx="46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  <a:latin typeface="Calibri"/>
                <a:ea typeface="Calibri"/>
              </a:rPr>
              <a:t>connected sites</a:t>
            </a:r>
          </a:p>
        </p:txBody>
      </p:sp>
      <p:sp>
        <p:nvSpPr>
          <p:cNvPr id="100023" name="Pill_Activeusecases"/>
          <p:cNvSpPr/>
          <p:nvPr/>
        </p:nvSpPr>
        <p:spPr>
          <a:xfrm xmlns:a="http://schemas.openxmlformats.org/drawingml/2006/main">
            <a:off x="540000" y="2016000"/>
            <a:ext cx="35208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540000" y="2214000"/>
            <a:ext cx="54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810000" y="2250000"/>
            <a:ext cx="29808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F2933"/>
                </a:solidFill>
                <a:latin typeface="Calibri"/>
                <a:ea typeface="Calibri"/>
              </a:rPr>
              <a:t>31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810000" y="2826000"/>
            <a:ext cx="29808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Active use cases</a:t>
            </a:r>
          </a:p>
        </p:txBody>
      </p:sp>
      <p:sp>
        <p:nvSpPr>
          <p:cNvPr id="100027" name="Pill_Connectedworkers"/>
          <p:cNvSpPr/>
          <p:nvPr/>
        </p:nvSpPr>
        <p:spPr>
          <a:xfrm xmlns:a="http://schemas.openxmlformats.org/drawingml/2006/main">
            <a:off x="4334400" y="2016000"/>
            <a:ext cx="35208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4334400" y="2214000"/>
            <a:ext cx="54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4604400" y="2250000"/>
            <a:ext cx="29808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F2933"/>
                </a:solidFill>
                <a:latin typeface="Calibri"/>
                <a:ea typeface="Calibri"/>
              </a:rPr>
              <a:t>5,400+</a:t>
            </a:r>
          </a:p>
        </p:txBody>
      </p:sp>
      <p:sp>
        <p:nvSpPr>
          <p:cNvPr id="100030" name="TextBox 11"/>
          <p:cNvSpPr/>
          <p:nvPr/>
        </p:nvSpPr>
        <p:spPr>
          <a:xfrm xmlns:a="http://schemas.openxmlformats.org/drawingml/2006/main">
            <a:off x="4604400" y="2826000"/>
            <a:ext cx="29808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Connected workers</a:t>
            </a:r>
          </a:p>
        </p:txBody>
      </p:sp>
      <p:sp>
        <p:nvSpPr>
          <p:cNvPr id="100031" name="Pill_Connectedmachines"/>
          <p:cNvSpPr/>
          <p:nvPr/>
        </p:nvSpPr>
        <p:spPr>
          <a:xfrm xmlns:a="http://schemas.openxmlformats.org/drawingml/2006/main">
            <a:off x="8128800" y="2016000"/>
            <a:ext cx="35208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TextBox 13"/>
          <p:cNvSpPr/>
          <p:nvPr/>
        </p:nvSpPr>
        <p:spPr>
          <a:xfrm xmlns:a="http://schemas.openxmlformats.org/drawingml/2006/main">
            <a:off x="8128800" y="2214000"/>
            <a:ext cx="54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3" name="TextBox 14"/>
          <p:cNvSpPr/>
          <p:nvPr/>
        </p:nvSpPr>
        <p:spPr>
          <a:xfrm xmlns:a="http://schemas.openxmlformats.org/drawingml/2006/main">
            <a:off x="8398800" y="2250000"/>
            <a:ext cx="29808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F2933"/>
                </a:solidFill>
                <a:latin typeface="Calibri"/>
                <a:ea typeface="Calibri"/>
              </a:rPr>
              <a:t>1,180</a:t>
            </a:r>
          </a:p>
        </p:txBody>
      </p:sp>
      <p:sp>
        <p:nvSpPr>
          <p:cNvPr id="100034" name="TextBox 15"/>
          <p:cNvSpPr/>
          <p:nvPr/>
        </p:nvSpPr>
        <p:spPr>
          <a:xfrm xmlns:a="http://schemas.openxmlformats.org/drawingml/2006/main">
            <a:off x="8398800" y="2826000"/>
            <a:ext cx="29808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Connected machines</a:t>
            </a:r>
          </a:p>
        </p:txBody>
      </p:sp>
      <p:sp>
        <p:nvSpPr>
          <p:cNvPr id="100035" name="Pill_Sitesinrollout"/>
          <p:cNvSpPr/>
          <p:nvPr/>
        </p:nvSpPr>
        <p:spPr>
          <a:xfrm xmlns:a="http://schemas.openxmlformats.org/drawingml/2006/main">
            <a:off x="540000" y="3960000"/>
            <a:ext cx="35208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6" name="TextBox 17"/>
          <p:cNvSpPr/>
          <p:nvPr/>
        </p:nvSpPr>
        <p:spPr>
          <a:xfrm xmlns:a="http://schemas.openxmlformats.org/drawingml/2006/main">
            <a:off x="540000" y="4158000"/>
            <a:ext cx="54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TextBox 18"/>
          <p:cNvSpPr/>
          <p:nvPr/>
        </p:nvSpPr>
        <p:spPr>
          <a:xfrm xmlns:a="http://schemas.openxmlformats.org/drawingml/2006/main">
            <a:off x="810000" y="4194000"/>
            <a:ext cx="29808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F2933"/>
                </a:solidFill>
                <a:latin typeface="Calibri"/>
                <a:ea typeface="Calibri"/>
              </a:rPr>
              <a:t>52</a:t>
            </a:r>
          </a:p>
        </p:txBody>
      </p:sp>
      <p:sp>
        <p:nvSpPr>
          <p:cNvPr id="100038" name="TextBox 19"/>
          <p:cNvSpPr/>
          <p:nvPr/>
        </p:nvSpPr>
        <p:spPr>
          <a:xfrm xmlns:a="http://schemas.openxmlformats.org/drawingml/2006/main">
            <a:off x="810000" y="4770000"/>
            <a:ext cx="29808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Sites in rollout</a:t>
            </a:r>
          </a:p>
        </p:txBody>
      </p:sp>
      <p:sp>
        <p:nvSpPr>
          <p:cNvPr id="100039" name="Pill_Datatags"/>
          <p:cNvSpPr/>
          <p:nvPr/>
        </p:nvSpPr>
        <p:spPr>
          <a:xfrm xmlns:a="http://schemas.openxmlformats.org/drawingml/2006/main">
            <a:off x="4334400" y="3960000"/>
            <a:ext cx="35208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0" name="TextBox 21"/>
          <p:cNvSpPr/>
          <p:nvPr/>
        </p:nvSpPr>
        <p:spPr>
          <a:xfrm xmlns:a="http://schemas.openxmlformats.org/drawingml/2006/main">
            <a:off x="4334400" y="4158000"/>
            <a:ext cx="54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TextBox 22"/>
          <p:cNvSpPr/>
          <p:nvPr/>
        </p:nvSpPr>
        <p:spPr>
          <a:xfrm xmlns:a="http://schemas.openxmlformats.org/drawingml/2006/main">
            <a:off x="4604400" y="4194000"/>
            <a:ext cx="29808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F2933"/>
                </a:solidFill>
                <a:latin typeface="Calibri"/>
                <a:ea typeface="Calibri"/>
              </a:rPr>
              <a:t>90k</a:t>
            </a:r>
          </a:p>
        </p:txBody>
      </p:sp>
      <p:sp>
        <p:nvSpPr>
          <p:cNvPr id="100042" name="TextBox 23"/>
          <p:cNvSpPr/>
          <p:nvPr/>
        </p:nvSpPr>
        <p:spPr>
          <a:xfrm xmlns:a="http://schemas.openxmlformats.org/drawingml/2006/main">
            <a:off x="4604400" y="4770000"/>
            <a:ext cx="29808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Data tags</a:t>
            </a:r>
          </a:p>
        </p:txBody>
      </p:sp>
      <p:sp>
        <p:nvSpPr>
          <p:cNvPr id="100043" name="Pill_3Dprintersdeployed"/>
          <p:cNvSpPr/>
          <p:nvPr/>
        </p:nvSpPr>
        <p:spPr>
          <a:xfrm xmlns:a="http://schemas.openxmlformats.org/drawingml/2006/main">
            <a:off x="8128800" y="3960000"/>
            <a:ext cx="35208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extBox 25"/>
          <p:cNvSpPr/>
          <p:nvPr/>
        </p:nvSpPr>
        <p:spPr>
          <a:xfrm xmlns:a="http://schemas.openxmlformats.org/drawingml/2006/main">
            <a:off x="8128800" y="4158000"/>
            <a:ext cx="54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5" name="TextBox 26"/>
          <p:cNvSpPr/>
          <p:nvPr/>
        </p:nvSpPr>
        <p:spPr>
          <a:xfrm xmlns:a="http://schemas.openxmlformats.org/drawingml/2006/main">
            <a:off x="8398800" y="4194000"/>
            <a:ext cx="29808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F2933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046" name="TextBox 27"/>
          <p:cNvSpPr/>
          <p:nvPr/>
        </p:nvSpPr>
        <p:spPr>
          <a:xfrm xmlns:a="http://schemas.openxmlformats.org/drawingml/2006/main">
            <a:off x="8398800" y="4770000"/>
            <a:ext cx="29808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3D printers deployed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7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F2933"/>
                </a:solidFill>
                <a:latin typeface="Calibri"/>
                <a:ea typeface="Calibri"/>
              </a:rPr>
              <a:t>On the ground</a:t>
            </a:r>
          </a:p>
        </p:txBody>
      </p:sp>
      <p:sp>
        <p:nvSpPr>
          <p:cNvPr id="100048" name="MediaPlaceholder"/>
          <p:cNvSpPr/>
          <p:nvPr/>
        </p:nvSpPr>
        <p:spPr>
          <a:xfrm xmlns:a="http://schemas.openxmlformats.org/drawingml/2006/main">
            <a:off x="540000" y="1656000"/>
            <a:ext cx="5400000" cy="3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[ MEDIA — replace or delete ]</a:t>
            </a:r>
          </a:p>
        </p:txBody>
      </p:sp>
      <p:sp>
        <p:nvSpPr>
          <p:cNvPr id="100049" name="TextBox 3"/>
          <p:cNvSpPr/>
          <p:nvPr/>
        </p:nvSpPr>
        <p:spPr>
          <a:xfrm xmlns:a="http://schemas.openxmlformats.org/drawingml/2006/main">
            <a:off x="6408000" y="1656000"/>
            <a:ext cx="522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Operators see the line the way the network sees it.</a:t>
            </a:r>
          </a:p>
        </p:txBody>
      </p:sp>
      <p:sp>
        <p:nvSpPr>
          <p:cNvPr id="100050" name="TextBox 4"/>
          <p:cNvSpPr/>
          <p:nvPr/>
        </p:nvSpPr>
        <p:spPr>
          <a:xfrm xmlns:a="http://schemas.openxmlformats.org/drawingml/2006/main">
            <a:off x="6408000" y="2556000"/>
            <a:ext cx="5220000" cy="9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Every connected site streams machine, quality, and energy data into one shared operations view.</a:t>
            </a:r>
          </a:p>
        </p:txBody>
      </p:sp>
      <p:sp>
        <p:nvSpPr>
          <p:cNvPr id="100051" name="TextBox 5"/>
          <p:cNvSpPr/>
          <p:nvPr/>
        </p:nvSpPr>
        <p:spPr>
          <a:xfrm xmlns:a="http://schemas.openxmlformats.org/drawingml/2006/main">
            <a:off x="6408000" y="3600000"/>
            <a:ext cx="5220000" cy="9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Teams act on live signals instead of end-of-shift reports, and fixes travel between sites in days.</a:t>
            </a:r>
          </a:p>
        </p:txBody>
      </p:sp>
      <p:sp>
        <p:nvSpPr>
          <p:cNvPr id="100052" name="TextBox 6"/>
          <p:cNvSpPr/>
          <p:nvPr/>
        </p:nvSpPr>
        <p:spPr>
          <a:xfrm xmlns:a="http://schemas.openxmlformats.org/drawingml/2006/main">
            <a:off x="6408000" y="4680000"/>
            <a:ext cx="52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0A650"/>
                </a:solidFill>
                <a:latin typeface="Calibri"/>
                <a:ea typeface="Calibri"/>
              </a:rPr>
              <a:t>Downtime on connected lines is down 18% year over year.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3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F2933"/>
                </a:solidFill>
                <a:latin typeface="Calibri"/>
                <a:ea typeface="Calibri"/>
              </a:rPr>
              <a:t>Use cases in production</a:t>
            </a:r>
          </a:p>
        </p:txBody>
      </p:sp>
      <p:sp>
        <p:nvSpPr>
          <p:cNvPr id="100054" name="Card1"/>
          <p:cNvSpPr/>
          <p:nvPr/>
        </p:nvSpPr>
        <p:spPr>
          <a:xfrm xmlns:a="http://schemas.openxmlformats.org/drawingml/2006/main">
            <a:off x="540000" y="1584000"/>
            <a:ext cx="3520800" cy="42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5" name="TextBox 3"/>
          <p:cNvSpPr/>
          <p:nvPr/>
        </p:nvSpPr>
        <p:spPr>
          <a:xfrm xmlns:a="http://schemas.openxmlformats.org/drawingml/2006/main">
            <a:off x="864000" y="1944000"/>
            <a:ext cx="432000" cy="432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4"/>
          <p:cNvSpPr/>
          <p:nvPr/>
        </p:nvSpPr>
        <p:spPr>
          <a:xfrm xmlns:a="http://schemas.openxmlformats.org/drawingml/2006/main">
            <a:off x="864000" y="2592000"/>
            <a:ext cx="2872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Predictive quality</a:t>
            </a:r>
          </a:p>
        </p:txBody>
      </p:sp>
      <p:sp>
        <p:nvSpPr>
          <p:cNvPr id="100057" name="TextBox 5"/>
          <p:cNvSpPr/>
          <p:nvPr/>
        </p:nvSpPr>
        <p:spPr>
          <a:xfrm xmlns:a="http://schemas.openxmlformats.org/drawingml/2006/main">
            <a:off x="864000" y="3060000"/>
            <a:ext cx="28728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Inline sensors flag drift before defects appear, holding first-pass yield on every shift.</a:t>
            </a:r>
          </a:p>
        </p:txBody>
      </p:sp>
      <p:sp>
        <p:nvSpPr>
          <p:cNvPr id="100058" name="TextBox 6"/>
          <p:cNvSpPr/>
          <p:nvPr/>
        </p:nvSpPr>
        <p:spPr>
          <a:xfrm xmlns:a="http://schemas.openxmlformats.org/drawingml/2006/main">
            <a:off x="864000" y="5184000"/>
            <a:ext cx="2872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59A23"/>
                </a:solidFill>
                <a:latin typeface="Calibri"/>
                <a:ea typeface="Calibri"/>
              </a:rPr>
              <a:t>-32% quality escapes</a:t>
            </a:r>
          </a:p>
        </p:txBody>
      </p:sp>
      <p:sp>
        <p:nvSpPr>
          <p:cNvPr id="100059" name="Card2"/>
          <p:cNvSpPr/>
          <p:nvPr/>
        </p:nvSpPr>
        <p:spPr>
          <a:xfrm xmlns:a="http://schemas.openxmlformats.org/drawingml/2006/main">
            <a:off x="4334400" y="1584000"/>
            <a:ext cx="3520800" cy="42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0" name="TextBox 8"/>
          <p:cNvSpPr/>
          <p:nvPr/>
        </p:nvSpPr>
        <p:spPr>
          <a:xfrm xmlns:a="http://schemas.openxmlformats.org/drawingml/2006/main">
            <a:off x="4658400" y="1944000"/>
            <a:ext cx="432000" cy="432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TextBox 9"/>
          <p:cNvSpPr/>
          <p:nvPr/>
        </p:nvSpPr>
        <p:spPr>
          <a:xfrm xmlns:a="http://schemas.openxmlformats.org/drawingml/2006/main">
            <a:off x="4658400" y="2592000"/>
            <a:ext cx="2872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Line monitoring</a:t>
            </a:r>
          </a:p>
        </p:txBody>
      </p:sp>
      <p:sp>
        <p:nvSpPr>
          <p:cNvPr id="100062" name="TextBox 10"/>
          <p:cNvSpPr/>
          <p:nvPr/>
        </p:nvSpPr>
        <p:spPr>
          <a:xfrm xmlns:a="http://schemas.openxmlformats.org/drawingml/2006/main">
            <a:off x="4658400" y="3060000"/>
            <a:ext cx="28728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Live dashboards track speed, stops, and losses on every packaging line in the network.</a:t>
            </a:r>
          </a:p>
        </p:txBody>
      </p:sp>
      <p:sp>
        <p:nvSpPr>
          <p:cNvPr id="100063" name="TextBox 11"/>
          <p:cNvSpPr/>
          <p:nvPr/>
        </p:nvSpPr>
        <p:spPr>
          <a:xfrm xmlns:a="http://schemas.openxmlformats.org/drawingml/2006/main">
            <a:off x="4658400" y="5184000"/>
            <a:ext cx="2872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59A23"/>
                </a:solidFill>
                <a:latin typeface="Calibri"/>
                <a:ea typeface="Calibri"/>
              </a:rPr>
              <a:t>+9% line utilization</a:t>
            </a:r>
          </a:p>
        </p:txBody>
      </p:sp>
      <p:sp>
        <p:nvSpPr>
          <p:cNvPr id="100064" name="Card3"/>
          <p:cNvSpPr/>
          <p:nvPr/>
        </p:nvSpPr>
        <p:spPr>
          <a:xfrm xmlns:a="http://schemas.openxmlformats.org/drawingml/2006/main">
            <a:off x="8128800" y="1584000"/>
            <a:ext cx="3520800" cy="42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5" name="TextBox 13"/>
          <p:cNvSpPr/>
          <p:nvPr/>
        </p:nvSpPr>
        <p:spPr>
          <a:xfrm xmlns:a="http://schemas.openxmlformats.org/drawingml/2006/main">
            <a:off x="8452800" y="1944000"/>
            <a:ext cx="432000" cy="432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TextBox 14"/>
          <p:cNvSpPr/>
          <p:nvPr/>
        </p:nvSpPr>
        <p:spPr>
          <a:xfrm xmlns:a="http://schemas.openxmlformats.org/drawingml/2006/main">
            <a:off x="8452800" y="2592000"/>
            <a:ext cx="2872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Guided maintenance</a:t>
            </a:r>
          </a:p>
        </p:txBody>
      </p:sp>
      <p:sp>
        <p:nvSpPr>
          <p:cNvPr id="100067" name="TextBox 15"/>
          <p:cNvSpPr/>
          <p:nvPr/>
        </p:nvSpPr>
        <p:spPr>
          <a:xfrm xmlns:a="http://schemas.openxmlformats.org/drawingml/2006/main">
            <a:off x="8452800" y="3060000"/>
            <a:ext cx="28728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Technicians follow digital work instructions with parts and machine history attached.</a:t>
            </a:r>
          </a:p>
        </p:txBody>
      </p:sp>
      <p:sp>
        <p:nvSpPr>
          <p:cNvPr id="100068" name="TextBox 16"/>
          <p:cNvSpPr/>
          <p:nvPr/>
        </p:nvSpPr>
        <p:spPr>
          <a:xfrm xmlns:a="http://schemas.openxmlformats.org/drawingml/2006/main">
            <a:off x="8452800" y="5184000"/>
            <a:ext cx="2872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59A23"/>
                </a:solidFill>
                <a:latin typeface="Calibri"/>
                <a:ea typeface="Calibri"/>
              </a:rPr>
              <a:t>-27% mean time to repair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/>
      <p:sp>
        <p:nvSpPr>
          <p:cNvPr id="100069" name="TextBox 1"/>
          <p:cNvSpPr/>
          <p:nvPr/>
        </p:nvSpPr>
        <p:spPr>
          <a:xfrm xmlns:a="http://schemas.openxmlformats.org/drawingml/2006/main">
            <a:off x="9432000" y="684000"/>
            <a:ext cx="2088000" cy="20880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TextBox 2"/>
          <p:cNvSpPr/>
          <p:nvPr/>
        </p:nvSpPr>
        <p:spPr>
          <a:xfrm xmlns:a="http://schemas.openxmlformats.org/drawingml/2006/main">
            <a:off x="1764000" y="4896000"/>
            <a:ext cx="1224000" cy="12240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TextBox 3"/>
          <p:cNvSpPr/>
          <p:nvPr/>
        </p:nvSpPr>
        <p:spPr>
          <a:xfrm xmlns:a="http://schemas.openxmlformats.org/drawingml/2006/main">
            <a:off x="900000" y="1584000"/>
            <a:ext cx="3960000" cy="2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0" b="1">
                <a:solidFill>
                  <a:srgbClr val="F59A23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72" name="Title"/>
          <p:cNvSpPr/>
          <p:nvPr/>
        </p:nvSpPr>
        <p:spPr>
          <a:xfrm xmlns:a="http://schemas.openxmlformats.org/drawingml/2006/main">
            <a:off x="936000" y="3816000"/>
            <a:ext cx="86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  <a:latin typeface="Calibri"/>
                <a:ea typeface="Calibri"/>
              </a:rPr>
              <a:t>Rollout plan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3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F2933"/>
                </a:solidFill>
                <a:latin typeface="Calibri"/>
                <a:ea typeface="Calibri"/>
              </a:rPr>
              <a:t>Rollout by region</a:t>
            </a:r>
          </a:p>
        </p:txBody>
      </p:sp>
      <p:sp>
        <p:nvSpPr>
          <p:cNvPr id="100074" name="TextBox 2"/>
          <p:cNvSpPr/>
          <p:nvPr/>
        </p:nvSpPr>
        <p:spPr>
          <a:xfrm xmlns:a="http://schemas.openxmlformats.org/drawingml/2006/main">
            <a:off x="540000" y="2160000"/>
            <a:ext cx="257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Northern Europe</a:t>
            </a:r>
          </a:p>
        </p:txBody>
      </p:sp>
      <p:sp>
        <p:nvSpPr>
          <p:cNvPr id="100075" name="TextBox 3"/>
          <p:cNvSpPr/>
          <p:nvPr/>
        </p:nvSpPr>
        <p:spPr>
          <a:xfrm xmlns:a="http://schemas.openxmlformats.org/drawingml/2006/main">
            <a:off x="540000" y="2628000"/>
            <a:ext cx="936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Live</a:t>
            </a:r>
          </a:p>
        </p:txBody>
      </p:sp>
      <p:sp>
        <p:nvSpPr>
          <p:cNvPr id="100076" name="TextBox 4"/>
          <p:cNvSpPr/>
          <p:nvPr/>
        </p:nvSpPr>
        <p:spPr>
          <a:xfrm xmlns:a="http://schemas.openxmlformats.org/drawingml/2006/main">
            <a:off x="540000" y="3096000"/>
            <a:ext cx="257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24 sites connected</a:t>
            </a:r>
          </a:p>
        </p:txBody>
      </p:sp>
      <p:sp>
        <p:nvSpPr>
          <p:cNvPr id="100077" name="TextBox 5"/>
          <p:cNvSpPr/>
          <p:nvPr/>
        </p:nvSpPr>
        <p:spPr>
          <a:xfrm xmlns:a="http://schemas.openxmlformats.org/drawingml/2006/main">
            <a:off x="3387600" y="2160000"/>
            <a:ext cx="257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Americas</a:t>
            </a:r>
          </a:p>
        </p:txBody>
      </p:sp>
      <p:sp>
        <p:nvSpPr>
          <p:cNvPr id="100078" name="TextBox 6"/>
          <p:cNvSpPr/>
          <p:nvPr/>
        </p:nvSpPr>
        <p:spPr>
          <a:xfrm xmlns:a="http://schemas.openxmlformats.org/drawingml/2006/main">
            <a:off x="3387600" y="2628000"/>
            <a:ext cx="936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Live</a:t>
            </a:r>
          </a:p>
        </p:txBody>
      </p:sp>
      <p:sp>
        <p:nvSpPr>
          <p:cNvPr id="100079" name="TextBox 7"/>
          <p:cNvSpPr/>
          <p:nvPr/>
        </p:nvSpPr>
        <p:spPr>
          <a:xfrm xmlns:a="http://schemas.openxmlformats.org/drawingml/2006/main">
            <a:off x="3387600" y="3096000"/>
            <a:ext cx="257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18 sites connected</a:t>
            </a:r>
          </a:p>
        </p:txBody>
      </p:sp>
      <p:sp>
        <p:nvSpPr>
          <p:cNvPr id="100080" name="TextBox 8"/>
          <p:cNvSpPr/>
          <p:nvPr/>
        </p:nvSpPr>
        <p:spPr>
          <a:xfrm xmlns:a="http://schemas.openxmlformats.org/drawingml/2006/main">
            <a:off x="6235200" y="2160000"/>
            <a:ext cx="257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Asia Pacific</a:t>
            </a:r>
          </a:p>
        </p:txBody>
      </p:sp>
      <p:sp>
        <p:nvSpPr>
          <p:cNvPr id="100081" name="TextBox 9"/>
          <p:cNvSpPr/>
          <p:nvPr/>
        </p:nvSpPr>
        <p:spPr>
          <a:xfrm xmlns:a="http://schemas.openxmlformats.org/drawingml/2006/main">
            <a:off x="6235200" y="2628000"/>
            <a:ext cx="936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9A2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Q3</a:t>
            </a:r>
          </a:p>
        </p:txBody>
      </p:sp>
      <p:sp>
        <p:nvSpPr>
          <p:cNvPr id="100082" name="TextBox 10"/>
          <p:cNvSpPr/>
          <p:nvPr/>
        </p:nvSpPr>
        <p:spPr>
          <a:xfrm xmlns:a="http://schemas.openxmlformats.org/drawingml/2006/main">
            <a:off x="6235200" y="3096000"/>
            <a:ext cx="257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14 sites in wave</a:t>
            </a:r>
          </a:p>
        </p:txBody>
      </p:sp>
      <p:sp>
        <p:nvSpPr>
          <p:cNvPr id="100083" name="TextBox 11"/>
          <p:cNvSpPr/>
          <p:nvPr/>
        </p:nvSpPr>
        <p:spPr>
          <a:xfrm xmlns:a="http://schemas.openxmlformats.org/drawingml/2006/main">
            <a:off x="9082800" y="2160000"/>
            <a:ext cx="257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Middle East</a:t>
            </a:r>
          </a:p>
        </p:txBody>
      </p:sp>
      <p:sp>
        <p:nvSpPr>
          <p:cNvPr id="100084" name="TextBox 12"/>
          <p:cNvSpPr/>
          <p:nvPr/>
        </p:nvSpPr>
        <p:spPr>
          <a:xfrm xmlns:a="http://schemas.openxmlformats.org/drawingml/2006/main">
            <a:off x="9082800" y="2628000"/>
            <a:ext cx="936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59A23"/>
                </a:solidFill>
                <a:latin typeface="Calibri"/>
                <a:ea typeface="Calibri"/>
              </a:rPr>
              <a:t>Q4</a:t>
            </a:r>
          </a:p>
        </p:txBody>
      </p:sp>
      <p:sp>
        <p:nvSpPr>
          <p:cNvPr id="100085" name="TextBox 13"/>
          <p:cNvSpPr/>
          <p:nvPr/>
        </p:nvSpPr>
        <p:spPr>
          <a:xfrm xmlns:a="http://schemas.openxmlformats.org/drawingml/2006/main">
            <a:off x="9082800" y="3096000"/>
            <a:ext cx="257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12 sites in wave</a:t>
            </a:r>
          </a:p>
        </p:txBody>
      </p:sp>
      <p:sp>
        <p:nvSpPr>
          <p:cNvPr id="100086" name="ProgressTrack"/>
          <p:cNvSpPr/>
          <p:nvPr/>
        </p:nvSpPr>
        <p:spPr>
          <a:xfrm xmlns:a="http://schemas.openxmlformats.org/drawingml/2006/main">
            <a:off x="540000" y="4752000"/>
            <a:ext cx="1111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7" name="ProgressFill"/>
          <p:cNvSpPr/>
          <p:nvPr/>
        </p:nvSpPr>
        <p:spPr>
          <a:xfrm xmlns:a="http://schemas.openxmlformats.org/drawingml/2006/main">
            <a:off x="540000" y="4752000"/>
            <a:ext cx="52488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8" name="TextBox 16"/>
          <p:cNvSpPr/>
          <p:nvPr/>
        </p:nvSpPr>
        <p:spPr>
          <a:xfrm xmlns:a="http://schemas.openxmlformats.org/drawingml/2006/main">
            <a:off x="540000" y="5148000"/>
            <a:ext cx="111132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B6B82"/>
                </a:solidFill>
                <a:latin typeface="Consolas"/>
                <a:ea typeface="Consolas"/>
              </a:rPr>
              <a:t>[N] OF [M] SITES CONNECTED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4D30"/>
        </a:solidFill>
      </p:bgPr>
    </p:bg>
    <p:spTree>
      <p:nvGrpSpPr>
        <p:cNvPr id="1" name=""/>
        <p:cNvGrpSpPr/>
        <p:nvPr/>
      </p:nvGrpSpPr>
      <p:grpSpPr/>
      <p:sp>
        <p:nvSpPr>
          <p:cNvPr id="100089" name="Title"/>
          <p:cNvSpPr/>
          <p:nvPr/>
        </p:nvSpPr>
        <p:spPr>
          <a:xfrm xmlns:a="http://schemas.openxmlformats.org/drawingml/2006/main">
            <a:off x="540000" y="936000"/>
            <a:ext cx="1008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Next steps</a:t>
            </a:r>
          </a:p>
        </p:txBody>
      </p:sp>
      <p:sp>
        <p:nvSpPr>
          <p:cNvPr id="100090" name="TextBox 2"/>
          <p:cNvSpPr/>
          <p:nvPr/>
        </p:nvSpPr>
        <p:spPr>
          <a:xfrm xmlns:a="http://schemas.openxmlformats.org/drawingml/2006/main">
            <a:off x="540000" y="2358000"/>
            <a:ext cx="288000" cy="288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9A2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1" name="TextBox 3"/>
          <p:cNvSpPr/>
          <p:nvPr/>
        </p:nvSpPr>
        <p:spPr>
          <a:xfrm xmlns:a="http://schemas.openxmlformats.org/drawingml/2006/main">
            <a:off x="1044000" y="2304000"/>
            <a:ext cx="104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Confirm the wave-three site list by the end of this month.</a:t>
            </a:r>
          </a:p>
        </p:txBody>
      </p:sp>
      <p:sp>
        <p:nvSpPr>
          <p:cNvPr id="100092" name="TextBox 4"/>
          <p:cNvSpPr/>
          <p:nvPr/>
        </p:nvSpPr>
        <p:spPr>
          <a:xfrm xmlns:a="http://schemas.openxmlformats.org/drawingml/2006/main">
            <a:off x="540000" y="3366000"/>
            <a:ext cx="288000" cy="288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9A2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TextBox 5"/>
          <p:cNvSpPr/>
          <p:nvPr/>
        </p:nvSpPr>
        <p:spPr>
          <a:xfrm xmlns:a="http://schemas.openxmlformats.org/drawingml/2006/main">
            <a:off x="1044000" y="3312000"/>
            <a:ext cx="104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Fund the connectivity upgrade for the remaining legacy lines.</a:t>
            </a:r>
          </a:p>
        </p:txBody>
      </p:sp>
      <p:sp>
        <p:nvSpPr>
          <p:cNvPr id="100094" name="TextBox 6"/>
          <p:cNvSpPr/>
          <p:nvPr/>
        </p:nvSpPr>
        <p:spPr>
          <a:xfrm xmlns:a="http://schemas.openxmlformats.org/drawingml/2006/main">
            <a:off x="540000" y="4374000"/>
            <a:ext cx="288000" cy="288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9A2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TextBox 7"/>
          <p:cNvSpPr/>
          <p:nvPr/>
        </p:nvSpPr>
        <p:spPr>
          <a:xfrm xmlns:a="http://schemas.openxmlformats.org/drawingml/2006/main">
            <a:off x="1044000" y="4320000"/>
            <a:ext cx="104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Nominate a site champion for every location in the next wave.</a:t>
            </a:r>
          </a:p>
        </p:txBody>
      </p:sp>
      <p:sp>
        <p:nvSpPr>
          <p:cNvPr id="100096" name="TextBox 8"/>
          <p:cNvSpPr/>
          <p:nvPr/>
        </p:nvSpPr>
        <p:spPr>
          <a:xfrm xmlns:a="http://schemas.openxmlformats.org/drawingml/2006/main">
            <a:off x="540000" y="5976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EEF2F5"/>
                </a:solidFill>
                <a:latin typeface="Calibri"/>
                <a:ea typeface="Calibri"/>
              </a:rPr>
              <a:t>Northwind Operations · Connected Operations Program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2026-07-24T10:27:55Z</dcterms:created>
  <cp:lastModifiedBy>OfficeCLI</cp:lastModifiedBy>
  <dcterms:modified xsi:type="dcterms:W3CDTF">2026-07-24T10:27:55Z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2026-07-24T10:28:00Z</vt:lpwstr>
  </op:property>
</op:Properties>
</file>